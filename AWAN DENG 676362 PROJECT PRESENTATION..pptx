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67be5fa55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67be5fa55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I'm walking you through a full customer churn analysis I built for a European retail bank. Churn means a customer closing their account and leaving. I'll cover what we set out to do, the dataset, how we cleaned and prepared it, what we found, the machine learning model we built, and what the bank should do next.</a:t>
            </a:r>
            <a:endParaRPr/>
          </a:p>
        </p:txBody>
      </p:sp>
      <p:sp>
        <p:nvSpPr>
          <p:cNvPr id="55" name="Google Shape;55;g3f67be5fa55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f67be5fa55_2_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g3f67be5fa55_2_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Banks lose money every time a customer leaves — replacing a lost customer costs far more than keeping an existing one. The problem is, most banks don't know who's about to leave until it's too late. This project had three goals: figure out which types of customers are leaving the most, test whether a computer program can actually predict who's likely to leave next, and turn whatever we find into real, practical actions a retention team could act on immediately.</a:t>
            </a:r>
            <a:endParaRPr/>
          </a:p>
        </p:txBody>
      </p:sp>
      <p:sp>
        <p:nvSpPr>
          <p:cNvPr id="63" name="Google Shape;63;g3f67be5fa55_2_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67be5fa55_2_2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g3f67be5fa55_2_2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I used the Bank Customer Churn Modelling dataset, sourced from Kaggle and originally derived from European retail banking records — 10,000 real customer records across three countries: France, Germany, and Spain. Each row is one customer, with fields like credit score, age, tenure, balance, number of products held, activity status, and estimated salary. The column we're trying to predict is Exited — whether that customer left the bank.</a:t>
            </a:r>
            <a:endParaRPr/>
          </a:p>
        </p:txBody>
      </p:sp>
      <p:sp>
        <p:nvSpPr>
          <p:cNvPr id="76" name="Google Shape;76;g3f67be5fa55_2_2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67be5fa55_2_4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g3f67be5fa55_2_4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Before analyzing anything, I had to make sure the data was trustworthy. First, I removed columns with no predictive value — RowNumber, CustomerId, and Surname — since a customer's name or ID tells a model nothing about their behavior; keeping it in would just let the model memorize individuals instead of learning real patterns. Next, I checked for duplicate rows and missing values — both came back at zero, but we built in automatic fixes either way. Finally, I cleaned stray whitespace from text fields like Geography, since 'Germany ' and 'Germany' would otherwise be treated as two different countries.</a:t>
            </a:r>
            <a:endParaRPr/>
          </a:p>
        </p:txBody>
      </p:sp>
      <p:sp>
        <p:nvSpPr>
          <p:cNvPr id="95" name="Google Shape;95;g3f67be5fa55_2_4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67caa7a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67caa7a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f67be5fa55_2_6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g3f67be5fa55_2_6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Beyond cleaning, I engineered two new columns. Balance-to-Salary Ratio divides a customer's balance by their salary to show how much of their wealth sits in this one bank relative to their income. Age Group used pd.cut() to bucket exact ages into life stages, making patterns easier to spot. I also used filtering to isolate high-value churned customers, sorting to find our top 5 wealthiest customers, and — most importantly — group-by aggregation, which splits thousands of rows into groups and calculates a statistic within each one. Every headline number in this presentation, like 'Germany churns at 32.4%,' came from this technique.</a:t>
            </a:r>
            <a:endParaRPr/>
          </a:p>
        </p:txBody>
      </p:sp>
      <p:sp>
        <p:nvSpPr>
          <p:cNvPr id="124" name="Google Shape;124;g3f67be5fa55_2_6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67be5fa55_2_7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f67be5fa55_2_7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Three charts here. First, a bar chart comparing churn rate by country — the right tool for comparing separate categories — showing Germany at 32.4% churn, roughly double France's 16.2% and Spain's 16.7%. Second, a histogram of age distribution, the right chart for showing the shape of a numeric spread — churned customers skew noticeably older than retained ones. Third, a box plot comparing credit score between retained and exited customers — useful for comparing spread and median at a glance — and here the two groups look almost identical, telling us credit score alone doesn't meaningfully predict churn.</a:t>
            </a:r>
            <a:endParaRPr/>
          </a:p>
        </p:txBody>
      </p:sp>
      <p:sp>
        <p:nvSpPr>
          <p:cNvPr id="133" name="Google Shape;133;g3f67be5fa55_2_7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f67be5fa55_2_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f67be5fa55_2_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Three more charts. A scatter plot of balance versus estimated salary — the right tool for spotting relationships between two numeric variables — showed no clean pattern; churners are scattered across the full range of both, so wealth alone doesn't predict churn. A pie chart showed our overall class split: 79.6% retained, 20.4% exited — visual proof of the class imbalance that matters a lot once we get to the model. Finally, a correlation heatmap scanned relationships across all numeric variables at once — Age had the strongest link to churn, but even that was weak on its own, confirming churn is driven by a combination of factors, not one single number.</a:t>
            </a:r>
            <a:endParaRPr/>
          </a:p>
        </p:txBody>
      </p:sp>
      <p:sp>
        <p:nvSpPr>
          <p:cNvPr id="150" name="Google Shape;150;g3f67be5fa55_2_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67be5fa55_2_10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f67be5fa55_2_10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I trained a Decision Tree Classifier — an algorithm that learns a series of yes/no questions about a customer to arrive at a prediction. Before training, I prepared the data with three techniques: categorical encoding, converting Geography into separate 0/1 columns via one-hot encoding, and Gender into a simple 1/0; scaling, using StandardScaler so a large-scale feature like Balance doesn't overpower a small-scale one like Credit Score; and stratified splitting, using stratify on our 80/20 train-test split to guarantee both sets kept the same 79.6%/20.4% ratio as the full dataset.</a:t>
            </a:r>
            <a:endParaRPr/>
          </a:p>
        </p:txBody>
      </p:sp>
      <p:sp>
        <p:nvSpPr>
          <p:cNvPr id="167" name="Google Shape;167;g3f67be5fa55_2_10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67be5fa55_2_12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g3f67be5fa55_2_12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The model scored 85.6% accuracy, 78.7% precision, 40.0% recall, and an F1-score of 0.531. Precision tells us that when the model predicts someone will leave, it's right about 4 times out of 5. But recall tells us it only catches 4 out of every 10 customers who actually leave — missing the other 6. This gap matters: because 80% of customers stayed, the model can score high accuracy just by leaning toward 'stayed' — meaning high accuracy is hiding a real weakness in catching the customers we actually care about.</a:t>
            </a:r>
            <a:endParaRPr/>
          </a:p>
        </p:txBody>
      </p:sp>
      <p:sp>
        <p:nvSpPr>
          <p:cNvPr id="188" name="Google Shape;188;g3f67be5fa55_2_12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f67be5fa55_2_14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f67be5fa55_2_14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Three patterns stood out. Geography: Germany churns at roughly double the rate of France or Spain. Product count: customers holding 3 or 4 products churn at dramatically higher rates than those holding 1 or 2 — more products doesn't mean more loyalty, it seems to mean more frustration. Engagement: inactive members churn at nearly twice the rate of active ones, making activity level our clearest early-warning signal.</a:t>
            </a:r>
            <a:endParaRPr/>
          </a:p>
        </p:txBody>
      </p:sp>
      <p:sp>
        <p:nvSpPr>
          <p:cNvPr id="209" name="Google Shape;209;g3f67be5fa55_2_14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67be5fa55_2_16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3f67be5fa55_2_16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Prioritize retention efforts in Germany — investigate local pricing, competition, and service quality there. Audit the 3- and 4-product bundles, since that's the single biggest churn driver found in this study. Build a proactive outreach program that flags customers the moment their activity drops, rather than waiting until they've already left. And on the technical side, future models should prioritize improving recall — catching more real churners — over chasing higher accuracy, since accuracy alone is misleading on data this imbalanced.</a:t>
            </a:r>
            <a:endParaRPr/>
          </a:p>
        </p:txBody>
      </p:sp>
      <p:sp>
        <p:nvSpPr>
          <p:cNvPr id="226" name="Google Shape;226;g3f67be5fa55_2_16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56" name="Shape 56"/>
        <p:cNvGrpSpPr/>
        <p:nvPr/>
      </p:nvGrpSpPr>
      <p:grpSpPr>
        <a:xfrm>
          <a:off x="0" y="0"/>
          <a:ext cx="0" cy="0"/>
          <a:chOff x="0" y="0"/>
          <a:chExt cx="0" cy="0"/>
        </a:xfrm>
      </p:grpSpPr>
      <p:sp>
        <p:nvSpPr>
          <p:cNvPr id="57" name="Google Shape;57;p15"/>
          <p:cNvSpPr/>
          <p:nvPr/>
        </p:nvSpPr>
        <p:spPr>
          <a:xfrm>
            <a:off x="548640" y="1783080"/>
            <a:ext cx="8044434" cy="8915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3000"/>
              <a:buFont typeface="Cambria"/>
              <a:buNone/>
            </a:pPr>
            <a:r>
              <a:rPr b="1" i="0" lang="en-GB" sz="3300" u="none" cap="none" strike="noStrike">
                <a:solidFill>
                  <a:srgbClr val="FFFFFF"/>
                </a:solidFill>
              </a:rPr>
              <a:t>Bank Customer Churn Analysis</a:t>
            </a:r>
            <a:endParaRPr i="0" sz="3300" u="none" cap="none" strike="noStrike">
              <a:solidFill>
                <a:schemeClr val="dk1"/>
              </a:solidFill>
            </a:endParaRPr>
          </a:p>
        </p:txBody>
      </p:sp>
      <p:sp>
        <p:nvSpPr>
          <p:cNvPr id="58" name="Google Shape;58;p15"/>
          <p:cNvSpPr/>
          <p:nvPr/>
        </p:nvSpPr>
        <p:spPr>
          <a:xfrm>
            <a:off x="548640" y="2640330"/>
            <a:ext cx="8044434" cy="41148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ADCFC"/>
              </a:buClr>
              <a:buSzPts val="1400"/>
              <a:buFont typeface="Calibri"/>
              <a:buNone/>
            </a:pPr>
            <a:r>
              <a:rPr i="1" lang="en-GB" sz="1400" u="none" cap="none" strike="noStrike">
                <a:solidFill>
                  <a:srgbClr val="CADCFC"/>
                </a:solidFill>
              </a:rPr>
              <a:t>Predicting who leaves — and why — using 10,000 real customer records</a:t>
            </a:r>
            <a:endParaRPr i="0" sz="1400" u="none" cap="none" strike="noStrike">
              <a:solidFill>
                <a:schemeClr val="dk1"/>
              </a:solidFill>
            </a:endParaRPr>
          </a:p>
        </p:txBody>
      </p:sp>
      <p:sp>
        <p:nvSpPr>
          <p:cNvPr id="59" name="Google Shape;59;p15"/>
          <p:cNvSpPr/>
          <p:nvPr/>
        </p:nvSpPr>
        <p:spPr>
          <a:xfrm>
            <a:off x="548640" y="1611630"/>
            <a:ext cx="960120" cy="61722"/>
          </a:xfrm>
          <a:prstGeom prst="rect">
            <a:avLst/>
          </a:prstGeom>
          <a:solidFill>
            <a:srgbClr val="F9616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16"/>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66" name="Google Shape;66;p16"/>
          <p:cNvSpPr/>
          <p:nvPr/>
        </p:nvSpPr>
        <p:spPr>
          <a:xfrm>
            <a:off x="480060" y="493776"/>
            <a:ext cx="8181600" cy="5145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2100" u="none" cap="none" strike="noStrike">
                <a:solidFill>
                  <a:srgbClr val="1E2761"/>
                </a:solidFill>
              </a:rPr>
              <a:t>Project Objective</a:t>
            </a:r>
            <a:endParaRPr i="0" sz="2100" u="none" cap="none" strike="noStrike">
              <a:solidFill>
                <a:schemeClr val="dk1"/>
              </a:solidFill>
            </a:endParaRPr>
          </a:p>
        </p:txBody>
      </p:sp>
      <p:sp>
        <p:nvSpPr>
          <p:cNvPr id="67" name="Google Shape;67;p16"/>
          <p:cNvSpPr/>
          <p:nvPr/>
        </p:nvSpPr>
        <p:spPr>
          <a:xfrm>
            <a:off x="480050" y="1234450"/>
            <a:ext cx="7431300" cy="1086600"/>
          </a:xfrm>
          <a:prstGeom prst="rect">
            <a:avLst/>
          </a:prstGeom>
          <a:noFill/>
          <a:ln>
            <a:noFill/>
          </a:ln>
        </p:spPr>
        <p:txBody>
          <a:bodyPr anchorCtr="0" anchor="t" bIns="34275" lIns="68575" spcFirstLastPara="1" rIns="68575" wrap="square" tIns="34275">
            <a:noAutofit/>
          </a:bodyPr>
          <a:lstStyle/>
          <a:p>
            <a:pPr indent="-260350" lvl="0" marL="254000" marR="0" rtl="0" algn="l">
              <a:spcBef>
                <a:spcPts val="0"/>
              </a:spcBef>
              <a:spcAft>
                <a:spcPts val="0"/>
              </a:spcAft>
              <a:buClr>
                <a:schemeClr val="dk1"/>
              </a:buClr>
              <a:buSzPts val="1300"/>
              <a:buChar char="●"/>
            </a:pPr>
            <a:r>
              <a:rPr i="0" lang="en-GB" sz="1300" u="none" cap="none" strike="noStrike">
                <a:solidFill>
                  <a:schemeClr val="dk1"/>
                </a:solidFill>
              </a:rPr>
              <a:t>Who is leaving the most — and what do they have in common?</a:t>
            </a:r>
            <a:endParaRPr i="0" sz="1300" u="none" cap="none" strike="noStrike">
              <a:solidFill>
                <a:schemeClr val="dk1"/>
              </a:solidFill>
            </a:endParaRPr>
          </a:p>
          <a:p>
            <a:pPr indent="-260350" lvl="0" marL="254000" marR="0" rtl="0" algn="l">
              <a:spcBef>
                <a:spcPts val="900"/>
              </a:spcBef>
              <a:spcAft>
                <a:spcPts val="0"/>
              </a:spcAft>
              <a:buClr>
                <a:schemeClr val="dk1"/>
              </a:buClr>
              <a:buSzPts val="1300"/>
              <a:buChar char="●"/>
            </a:pPr>
            <a:r>
              <a:rPr i="0" lang="en-GB" sz="1300" u="none" cap="none" strike="noStrike">
                <a:solidFill>
                  <a:schemeClr val="dk1"/>
                </a:solidFill>
              </a:rPr>
              <a:t>Can a machine learning model predict who's likely to leave next?</a:t>
            </a:r>
            <a:endParaRPr i="0" sz="1300" u="none" cap="none" strike="noStrike">
              <a:solidFill>
                <a:schemeClr val="dk1"/>
              </a:solidFill>
            </a:endParaRPr>
          </a:p>
          <a:p>
            <a:pPr indent="-260350" lvl="0" marL="254000" marR="0" rtl="0" algn="l">
              <a:spcBef>
                <a:spcPts val="900"/>
              </a:spcBef>
              <a:spcAft>
                <a:spcPts val="0"/>
              </a:spcAft>
              <a:buClr>
                <a:schemeClr val="dk1"/>
              </a:buClr>
              <a:buSzPts val="1300"/>
              <a:buChar char="●"/>
            </a:pPr>
            <a:r>
              <a:rPr i="0" lang="en-GB" sz="1300" u="none" cap="none" strike="noStrike">
                <a:solidFill>
                  <a:schemeClr val="dk1"/>
                </a:solidFill>
              </a:rPr>
              <a:t>What should the bank actually do about it?</a:t>
            </a:r>
            <a:endParaRPr i="0" sz="1300" u="none" cap="none" strike="noStrike">
              <a:solidFill>
                <a:schemeClr val="dk1"/>
              </a:solidFill>
            </a:endParaRPr>
          </a:p>
        </p:txBody>
      </p:sp>
      <p:grpSp>
        <p:nvGrpSpPr>
          <p:cNvPr id="68" name="Google Shape;68;p16"/>
          <p:cNvGrpSpPr/>
          <p:nvPr/>
        </p:nvGrpSpPr>
        <p:grpSpPr>
          <a:xfrm>
            <a:off x="3752644" y="2321061"/>
            <a:ext cx="4254476" cy="3690079"/>
            <a:chOff x="5280650" y="1234446"/>
            <a:chExt cx="3360300" cy="2914524"/>
          </a:xfrm>
        </p:grpSpPr>
        <p:sp>
          <p:nvSpPr>
            <p:cNvPr id="69" name="Google Shape;69;p16"/>
            <p:cNvSpPr/>
            <p:nvPr/>
          </p:nvSpPr>
          <p:spPr>
            <a:xfrm>
              <a:off x="5280650" y="1234446"/>
              <a:ext cx="3360300" cy="1839000"/>
            </a:xfrm>
            <a:prstGeom prst="roundRect">
              <a:avLst>
                <a:gd fmla="val 2609" name="adj"/>
              </a:avLst>
            </a:prstGeom>
            <a:solidFill>
              <a:srgbClr val="F2F4FA"/>
            </a:solidFill>
            <a:ln>
              <a:noFill/>
            </a:ln>
          </p:spPr>
          <p:txBody>
            <a:bodyPr anchorCtr="0" anchor="ctr" bIns="86825" lIns="86825" spcFirstLastPara="1" rIns="86825" wrap="square" tIns="86825">
              <a:noAutofit/>
            </a:bodyPr>
            <a:lstStyle/>
            <a:p>
              <a:pPr indent="0" lvl="0" marL="0" rtl="0" algn="l">
                <a:spcBef>
                  <a:spcPts val="0"/>
                </a:spcBef>
                <a:spcAft>
                  <a:spcPts val="0"/>
                </a:spcAft>
                <a:buNone/>
              </a:pPr>
              <a:r>
                <a:t/>
              </a:r>
              <a:endParaRPr/>
            </a:p>
          </p:txBody>
        </p:sp>
        <p:sp>
          <p:nvSpPr>
            <p:cNvPr id="70" name="Google Shape;70;p16"/>
            <p:cNvSpPr/>
            <p:nvPr/>
          </p:nvSpPr>
          <p:spPr>
            <a:xfrm>
              <a:off x="5554980" y="1440180"/>
              <a:ext cx="2811780" cy="274320"/>
            </a:xfrm>
            <a:prstGeom prst="rect">
              <a:avLst/>
            </a:prstGeom>
            <a:noFill/>
            <a:ln>
              <a:noFill/>
            </a:ln>
          </p:spPr>
          <p:txBody>
            <a:bodyPr anchorCtr="0" anchor="ctr" bIns="43400" lIns="86825" spcFirstLastPara="1" rIns="86825" wrap="square" tIns="43400">
              <a:noAutofit/>
            </a:bodyPr>
            <a:lstStyle/>
            <a:p>
              <a:pPr indent="0" lvl="0" marL="0" marR="0" rtl="0" algn="l">
                <a:spcBef>
                  <a:spcPts val="0"/>
                </a:spcBef>
                <a:spcAft>
                  <a:spcPts val="0"/>
                </a:spcAft>
                <a:buClr>
                  <a:srgbClr val="1E2761"/>
                </a:buClr>
                <a:buSzPts val="1773"/>
                <a:buFont typeface="Cambria"/>
                <a:buNone/>
              </a:pPr>
              <a:r>
                <a:rPr b="1" i="0" lang="en-GB" sz="1773" u="none" cap="none" strike="noStrike">
                  <a:solidFill>
                    <a:srgbClr val="1E2761"/>
                  </a:solidFill>
                  <a:latin typeface="Cambria"/>
                  <a:ea typeface="Cambria"/>
                  <a:cs typeface="Cambria"/>
                  <a:sym typeface="Cambria"/>
                </a:rPr>
                <a:t>Why it matters</a:t>
              </a:r>
              <a:endParaRPr b="0" i="0" sz="1773" u="none" cap="none" strike="noStrike">
                <a:solidFill>
                  <a:schemeClr val="dk1"/>
                </a:solidFill>
                <a:latin typeface="Calibri"/>
                <a:ea typeface="Calibri"/>
                <a:cs typeface="Calibri"/>
                <a:sym typeface="Calibri"/>
              </a:endParaRPr>
            </a:p>
          </p:txBody>
        </p:sp>
        <p:sp>
          <p:nvSpPr>
            <p:cNvPr id="71" name="Google Shape;71;p16"/>
            <p:cNvSpPr/>
            <p:nvPr/>
          </p:nvSpPr>
          <p:spPr>
            <a:xfrm>
              <a:off x="5554980" y="1817370"/>
              <a:ext cx="2811900" cy="2331600"/>
            </a:xfrm>
            <a:prstGeom prst="rect">
              <a:avLst/>
            </a:prstGeom>
            <a:noFill/>
            <a:ln>
              <a:noFill/>
            </a:ln>
          </p:spPr>
          <p:txBody>
            <a:bodyPr anchorCtr="0" anchor="t" bIns="43400" lIns="86825" spcFirstLastPara="1" rIns="86825" wrap="square" tIns="43400">
              <a:noAutofit/>
            </a:bodyPr>
            <a:lstStyle/>
            <a:p>
              <a:pPr indent="0" lvl="0" marL="0" marR="0" rtl="0" algn="l">
                <a:spcBef>
                  <a:spcPts val="0"/>
                </a:spcBef>
                <a:spcAft>
                  <a:spcPts val="0"/>
                </a:spcAft>
                <a:buClr>
                  <a:srgbClr val="222222"/>
                </a:buClr>
                <a:buSzPts val="1393"/>
                <a:buFont typeface="Calibri"/>
                <a:buNone/>
              </a:pPr>
              <a:r>
                <a:rPr i="0" lang="en-GB" sz="1300" u="none" cap="none" strike="noStrike">
                  <a:solidFill>
                    <a:srgbClr val="222222"/>
                  </a:solidFill>
                </a:rPr>
                <a:t>Replacing a lost customer costs far more than keeping an existing one. Most banks don't know who's about to leave until it's too late — this project turns that blind spot into targeted, actionable retention.</a:t>
              </a:r>
              <a:endParaRPr i="0" sz="1300" u="none" cap="none" strike="noStrike">
                <a:solidFill>
                  <a:schemeClr val="dk1"/>
                </a:solidFill>
              </a:endParaRPr>
            </a:p>
          </p:txBody>
        </p:sp>
      </p:grpSp>
      <p:sp>
        <p:nvSpPr>
          <p:cNvPr id="72" name="Google Shape;72;p16"/>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17"/>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79" name="Google Shape;79;p17"/>
          <p:cNvSpPr/>
          <p:nvPr/>
        </p:nvSpPr>
        <p:spPr>
          <a:xfrm>
            <a:off x="480060" y="493776"/>
            <a:ext cx="8181594"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2100" u="none" cap="none" strike="noStrike">
                <a:solidFill>
                  <a:srgbClr val="1E2761"/>
                </a:solidFill>
              </a:rPr>
              <a:t>Dataset Used</a:t>
            </a:r>
            <a:endParaRPr i="0" sz="2100" u="none" cap="none" strike="noStrike">
              <a:solidFill>
                <a:schemeClr val="dk1"/>
              </a:solidFill>
            </a:endParaRPr>
          </a:p>
        </p:txBody>
      </p:sp>
      <p:sp>
        <p:nvSpPr>
          <p:cNvPr id="80" name="Google Shape;80;p17"/>
          <p:cNvSpPr/>
          <p:nvPr/>
        </p:nvSpPr>
        <p:spPr>
          <a:xfrm>
            <a:off x="480060" y="1165860"/>
            <a:ext cx="816102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200"/>
              <a:buFont typeface="Calibri"/>
              <a:buNone/>
            </a:pPr>
            <a:r>
              <a:rPr b="1" i="0" lang="en-GB" sz="1500" u="none" cap="none" strike="noStrike">
                <a:solidFill>
                  <a:srgbClr val="1E2761"/>
                </a:solidFill>
              </a:rPr>
              <a:t>Bank Customer Churn Modelling — Kaggle</a:t>
            </a:r>
            <a:endParaRPr i="0" sz="1500" u="none" cap="none" strike="noStrike">
              <a:solidFill>
                <a:schemeClr val="dk1"/>
              </a:solidFill>
            </a:endParaRPr>
          </a:p>
        </p:txBody>
      </p:sp>
      <p:sp>
        <p:nvSpPr>
          <p:cNvPr id="81" name="Google Shape;81;p17"/>
          <p:cNvSpPr/>
          <p:nvPr/>
        </p:nvSpPr>
        <p:spPr>
          <a:xfrm>
            <a:off x="1468760" y="1628765"/>
            <a:ext cx="1954500" cy="1097400"/>
          </a:xfrm>
          <a:prstGeom prst="roundRect">
            <a:avLst>
              <a:gd fmla="val 6250" name="adj"/>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82" name="Google Shape;82;p17"/>
          <p:cNvSpPr/>
          <p:nvPr/>
        </p:nvSpPr>
        <p:spPr>
          <a:xfrm>
            <a:off x="1468760" y="1711061"/>
            <a:ext cx="1954500" cy="5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100"/>
              <a:buFont typeface="Cambria"/>
              <a:buNone/>
            </a:pPr>
            <a:r>
              <a:rPr b="1" i="0" lang="en-GB" sz="1500" u="none" cap="none" strike="noStrike">
                <a:solidFill>
                  <a:srgbClr val="FFFFFF"/>
                </a:solidFill>
              </a:rPr>
              <a:t>10,000</a:t>
            </a:r>
            <a:endParaRPr i="0" sz="1500" u="none" cap="none" strike="noStrike">
              <a:solidFill>
                <a:schemeClr val="dk1"/>
              </a:solidFill>
            </a:endParaRPr>
          </a:p>
        </p:txBody>
      </p:sp>
      <p:sp>
        <p:nvSpPr>
          <p:cNvPr id="83" name="Google Shape;83;p17"/>
          <p:cNvSpPr/>
          <p:nvPr/>
        </p:nvSpPr>
        <p:spPr>
          <a:xfrm>
            <a:off x="1468760" y="2177405"/>
            <a:ext cx="19545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ADCFC"/>
              </a:buClr>
              <a:buSzPts val="1000"/>
              <a:buFont typeface="Calibri"/>
              <a:buNone/>
            </a:pPr>
            <a:r>
              <a:rPr i="0" lang="en-GB" sz="1500" u="none" cap="none" strike="noStrike">
                <a:solidFill>
                  <a:srgbClr val="CADCFC"/>
                </a:solidFill>
              </a:rPr>
              <a:t>Customer records</a:t>
            </a:r>
            <a:endParaRPr i="0" sz="1500" u="none" cap="none" strike="noStrike">
              <a:solidFill>
                <a:schemeClr val="dk1"/>
              </a:solidFill>
            </a:endParaRPr>
          </a:p>
        </p:txBody>
      </p:sp>
      <p:sp>
        <p:nvSpPr>
          <p:cNvPr id="84" name="Google Shape;84;p17"/>
          <p:cNvSpPr/>
          <p:nvPr/>
        </p:nvSpPr>
        <p:spPr>
          <a:xfrm>
            <a:off x="3594740" y="1628765"/>
            <a:ext cx="1954500" cy="1097400"/>
          </a:xfrm>
          <a:prstGeom prst="roundRect">
            <a:avLst>
              <a:gd fmla="val 6250" name="adj"/>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85" name="Google Shape;85;p17"/>
          <p:cNvSpPr/>
          <p:nvPr/>
        </p:nvSpPr>
        <p:spPr>
          <a:xfrm>
            <a:off x="3594740" y="1711061"/>
            <a:ext cx="1954500" cy="5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100"/>
              <a:buFont typeface="Cambria"/>
              <a:buNone/>
            </a:pPr>
            <a:r>
              <a:rPr b="1" i="0" lang="en-GB" sz="1500" u="none" cap="none" strike="noStrike">
                <a:solidFill>
                  <a:srgbClr val="FFFFFF"/>
                </a:solidFill>
              </a:rPr>
              <a:t>3</a:t>
            </a:r>
            <a:endParaRPr i="0" sz="1500" u="none" cap="none" strike="noStrike">
              <a:solidFill>
                <a:schemeClr val="dk1"/>
              </a:solidFill>
            </a:endParaRPr>
          </a:p>
        </p:txBody>
      </p:sp>
      <p:sp>
        <p:nvSpPr>
          <p:cNvPr id="86" name="Google Shape;86;p17"/>
          <p:cNvSpPr/>
          <p:nvPr/>
        </p:nvSpPr>
        <p:spPr>
          <a:xfrm>
            <a:off x="3594740" y="2177405"/>
            <a:ext cx="19545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ADCFC"/>
              </a:buClr>
              <a:buSzPts val="1000"/>
              <a:buFont typeface="Calibri"/>
              <a:buNone/>
            </a:pPr>
            <a:r>
              <a:rPr i="0" lang="en-GB" sz="1500" u="none" cap="none" strike="noStrike">
                <a:solidFill>
                  <a:srgbClr val="CADCFC"/>
                </a:solidFill>
              </a:rPr>
              <a:t>Countries: FR,</a:t>
            </a:r>
            <a:r>
              <a:rPr lang="en-GB" sz="1500">
                <a:solidFill>
                  <a:srgbClr val="CADCFC"/>
                </a:solidFill>
              </a:rPr>
              <a:t> GER, SPN</a:t>
            </a:r>
            <a:endParaRPr i="0" sz="1500" u="none" cap="none" strike="noStrike">
              <a:solidFill>
                <a:schemeClr val="dk1"/>
              </a:solidFill>
            </a:endParaRPr>
          </a:p>
        </p:txBody>
      </p:sp>
      <p:sp>
        <p:nvSpPr>
          <p:cNvPr id="87" name="Google Shape;87;p17"/>
          <p:cNvSpPr/>
          <p:nvPr/>
        </p:nvSpPr>
        <p:spPr>
          <a:xfrm>
            <a:off x="5720720" y="1628765"/>
            <a:ext cx="1954500" cy="1097400"/>
          </a:xfrm>
          <a:prstGeom prst="roundRect">
            <a:avLst>
              <a:gd fmla="val 6250" name="adj"/>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88" name="Google Shape;88;p17"/>
          <p:cNvSpPr/>
          <p:nvPr/>
        </p:nvSpPr>
        <p:spPr>
          <a:xfrm>
            <a:off x="5720720" y="1711061"/>
            <a:ext cx="1954500" cy="5145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100"/>
              <a:buFont typeface="Cambria"/>
              <a:buNone/>
            </a:pPr>
            <a:r>
              <a:rPr b="1" i="0" lang="en-GB" sz="1500" u="none" cap="none" strike="noStrike">
                <a:solidFill>
                  <a:srgbClr val="FFFFFF"/>
                </a:solidFill>
                <a:latin typeface="Cambria"/>
                <a:ea typeface="Cambria"/>
                <a:cs typeface="Cambria"/>
                <a:sym typeface="Cambria"/>
              </a:rPr>
              <a:t>11</a:t>
            </a:r>
            <a:endParaRPr b="0" i="0" sz="1500" u="none" cap="none" strike="noStrike">
              <a:solidFill>
                <a:schemeClr val="dk1"/>
              </a:solidFill>
              <a:latin typeface="Calibri"/>
              <a:ea typeface="Calibri"/>
              <a:cs typeface="Calibri"/>
              <a:sym typeface="Calibri"/>
            </a:endParaRPr>
          </a:p>
        </p:txBody>
      </p:sp>
      <p:sp>
        <p:nvSpPr>
          <p:cNvPr id="89" name="Google Shape;89;p17"/>
          <p:cNvSpPr/>
          <p:nvPr/>
        </p:nvSpPr>
        <p:spPr>
          <a:xfrm>
            <a:off x="5720720" y="2177405"/>
            <a:ext cx="1954500" cy="4116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CADCFC"/>
              </a:buClr>
              <a:buSzPts val="1000"/>
              <a:buFont typeface="Calibri"/>
              <a:buNone/>
            </a:pPr>
            <a:r>
              <a:rPr i="0" lang="en-GB" sz="1500" u="none" cap="none" strike="noStrike">
                <a:solidFill>
                  <a:srgbClr val="CADCFC"/>
                </a:solidFill>
              </a:rPr>
              <a:t>Features used</a:t>
            </a:r>
            <a:endParaRPr i="0" sz="1500" u="none" cap="none" strike="noStrike">
              <a:solidFill>
                <a:schemeClr val="dk1"/>
              </a:solidFill>
            </a:endParaRPr>
          </a:p>
        </p:txBody>
      </p:sp>
      <p:sp>
        <p:nvSpPr>
          <p:cNvPr id="90" name="Google Shape;90;p17"/>
          <p:cNvSpPr/>
          <p:nvPr/>
        </p:nvSpPr>
        <p:spPr>
          <a:xfrm>
            <a:off x="480100" y="3150150"/>
            <a:ext cx="8160900" cy="1097400"/>
          </a:xfrm>
          <a:prstGeom prst="rect">
            <a:avLst/>
          </a:prstGeom>
          <a:noFill/>
          <a:ln>
            <a:noFill/>
          </a:ln>
        </p:spPr>
        <p:txBody>
          <a:bodyPr anchorCtr="0" anchor="t" bIns="34275" lIns="68575" spcFirstLastPara="1" rIns="68575" wrap="square" tIns="34275">
            <a:noAutofit/>
          </a:bodyPr>
          <a:lstStyle/>
          <a:p>
            <a:pPr indent="-273050" lvl="0" marL="254000" marR="0" rtl="0" algn="l">
              <a:spcBef>
                <a:spcPts val="0"/>
              </a:spcBef>
              <a:spcAft>
                <a:spcPts val="0"/>
              </a:spcAft>
              <a:buClr>
                <a:srgbClr val="222222"/>
              </a:buClr>
              <a:buSzPts val="1500"/>
              <a:buChar char="●"/>
            </a:pPr>
            <a:r>
              <a:rPr i="0" lang="en-GB" sz="1500" u="none" cap="none" strike="noStrike">
                <a:solidFill>
                  <a:srgbClr val="222222"/>
                </a:solidFill>
              </a:rPr>
              <a:t>Fields: Credit Score, Age, Tenure, Balance, NumOfProducts, HasCrCard, IsActiveMember, EstimatedSalary</a:t>
            </a:r>
            <a:endParaRPr i="0" sz="1500" u="none" cap="none" strike="noStrike">
              <a:solidFill>
                <a:schemeClr val="dk1"/>
              </a:solidFill>
            </a:endParaRPr>
          </a:p>
          <a:p>
            <a:pPr indent="-273050" lvl="0" marL="254000" marR="0" rtl="0" algn="l">
              <a:spcBef>
                <a:spcPts val="900"/>
              </a:spcBef>
              <a:spcAft>
                <a:spcPts val="0"/>
              </a:spcAft>
              <a:buClr>
                <a:srgbClr val="222222"/>
              </a:buClr>
              <a:buSzPts val="1500"/>
              <a:buChar char="●"/>
            </a:pPr>
            <a:r>
              <a:rPr i="0" lang="en-GB" sz="1500" u="none" cap="none" strike="noStrike">
                <a:solidFill>
                  <a:srgbClr val="222222"/>
                </a:solidFill>
              </a:rPr>
              <a:t>Target variable: Exited (1 = churned, 0 = retained) — this is what we're predicting</a:t>
            </a:r>
            <a:endParaRPr i="0" sz="1500" u="none" cap="none" strike="noStrike">
              <a:solidFill>
                <a:schemeClr val="dk1"/>
              </a:solidFill>
            </a:endParaRPr>
          </a:p>
        </p:txBody>
      </p:sp>
      <p:sp>
        <p:nvSpPr>
          <p:cNvPr id="91" name="Google Shape;91;p17"/>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18"/>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98" name="Google Shape;98;p18"/>
          <p:cNvSpPr/>
          <p:nvPr/>
        </p:nvSpPr>
        <p:spPr>
          <a:xfrm>
            <a:off x="480060" y="493776"/>
            <a:ext cx="8181594"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1500" u="none" cap="none" strike="noStrike">
                <a:solidFill>
                  <a:srgbClr val="1E2761"/>
                </a:solidFill>
              </a:rPr>
              <a:t>Data Cleaning Process</a:t>
            </a:r>
            <a:endParaRPr i="0" sz="1500" u="none" cap="none" strike="noStrike">
              <a:solidFill>
                <a:schemeClr val="dk1"/>
              </a:solidFill>
            </a:endParaRPr>
          </a:p>
        </p:txBody>
      </p:sp>
      <p:sp>
        <p:nvSpPr>
          <p:cNvPr id="99" name="Google Shape;99;p18"/>
          <p:cNvSpPr/>
          <p:nvPr/>
        </p:nvSpPr>
        <p:spPr>
          <a:xfrm>
            <a:off x="480060" y="1303020"/>
            <a:ext cx="377190" cy="377190"/>
          </a:xfrm>
          <a:prstGeom prst="ellipse">
            <a:avLst/>
          </a:prstGeom>
          <a:solidFill>
            <a:srgbClr val="F9616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100" name="Google Shape;100;p18"/>
          <p:cNvSpPr/>
          <p:nvPr/>
        </p:nvSpPr>
        <p:spPr>
          <a:xfrm>
            <a:off x="480060" y="1303020"/>
            <a:ext cx="37719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GB"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101" name="Google Shape;101;p18"/>
          <p:cNvSpPr/>
          <p:nvPr/>
        </p:nvSpPr>
        <p:spPr>
          <a:xfrm>
            <a:off x="1028700" y="1268730"/>
            <a:ext cx="233172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100"/>
              <a:buFont typeface="Calibri"/>
              <a:buNone/>
            </a:pPr>
            <a:r>
              <a:rPr b="1" i="0" lang="en-GB" sz="1500" u="none" cap="none" strike="noStrike">
                <a:solidFill>
                  <a:schemeClr val="dk1"/>
                </a:solidFill>
              </a:rPr>
              <a:t>Removed identifiers</a:t>
            </a:r>
            <a:endParaRPr i="0" sz="1500" u="none" cap="none" strike="noStrike">
              <a:solidFill>
                <a:schemeClr val="dk1"/>
              </a:solidFill>
            </a:endParaRPr>
          </a:p>
        </p:txBody>
      </p:sp>
      <p:sp>
        <p:nvSpPr>
          <p:cNvPr id="102" name="Google Shape;102;p18"/>
          <p:cNvSpPr/>
          <p:nvPr/>
        </p:nvSpPr>
        <p:spPr>
          <a:xfrm>
            <a:off x="3429000" y="1268730"/>
            <a:ext cx="521208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000"/>
              <a:buFont typeface="Calibri"/>
              <a:buNone/>
            </a:pPr>
            <a:r>
              <a:rPr i="0" lang="en-GB" sz="1500" u="none" cap="none" strike="noStrike">
                <a:solidFill>
                  <a:schemeClr val="dk1"/>
                </a:solidFill>
              </a:rPr>
              <a:t>Dropped RowNumber, CustomerId, Surname — no predictive value, .drop(columns=...)</a:t>
            </a:r>
            <a:endParaRPr i="0" sz="1500" u="none" cap="none" strike="noStrike">
              <a:solidFill>
                <a:schemeClr val="dk1"/>
              </a:solidFill>
            </a:endParaRPr>
          </a:p>
        </p:txBody>
      </p:sp>
      <p:sp>
        <p:nvSpPr>
          <p:cNvPr id="103" name="Google Shape;103;p18"/>
          <p:cNvSpPr/>
          <p:nvPr/>
        </p:nvSpPr>
        <p:spPr>
          <a:xfrm>
            <a:off x="480060" y="2023110"/>
            <a:ext cx="377190" cy="377190"/>
          </a:xfrm>
          <a:prstGeom prst="ellipse">
            <a:avLst/>
          </a:prstGeom>
          <a:solidFill>
            <a:srgbClr val="F9616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104" name="Google Shape;104;p18"/>
          <p:cNvSpPr/>
          <p:nvPr/>
        </p:nvSpPr>
        <p:spPr>
          <a:xfrm>
            <a:off x="480060" y="2023110"/>
            <a:ext cx="37719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GB"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105" name="Google Shape;105;p18"/>
          <p:cNvSpPr/>
          <p:nvPr/>
        </p:nvSpPr>
        <p:spPr>
          <a:xfrm>
            <a:off x="1028700" y="1988820"/>
            <a:ext cx="233172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100"/>
              <a:buFont typeface="Calibri"/>
              <a:buNone/>
            </a:pPr>
            <a:r>
              <a:rPr b="1" i="0" lang="en-GB" sz="1500" u="none" cap="none" strike="noStrike">
                <a:solidFill>
                  <a:schemeClr val="dk1"/>
                </a:solidFill>
              </a:rPr>
              <a:t>Checked duplicates</a:t>
            </a:r>
            <a:endParaRPr i="0" sz="1500" u="none" cap="none" strike="noStrike">
              <a:solidFill>
                <a:schemeClr val="dk1"/>
              </a:solidFill>
            </a:endParaRPr>
          </a:p>
        </p:txBody>
      </p:sp>
      <p:sp>
        <p:nvSpPr>
          <p:cNvPr id="106" name="Google Shape;106;p18"/>
          <p:cNvSpPr/>
          <p:nvPr/>
        </p:nvSpPr>
        <p:spPr>
          <a:xfrm>
            <a:off x="3429000" y="1988820"/>
            <a:ext cx="521208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000"/>
              <a:buFont typeface="Calibri"/>
              <a:buNone/>
            </a:pPr>
            <a:r>
              <a:rPr i="0" lang="en-GB" sz="1500" u="none" cap="none" strike="noStrike">
                <a:solidFill>
                  <a:schemeClr val="dk1"/>
                </a:solidFill>
              </a:rPr>
              <a:t>0 found via .duplicated() — auto-removal built in with .drop_duplicates()</a:t>
            </a:r>
            <a:endParaRPr i="0" sz="1500" u="none" cap="none" strike="noStrike">
              <a:solidFill>
                <a:schemeClr val="dk1"/>
              </a:solidFill>
            </a:endParaRPr>
          </a:p>
        </p:txBody>
      </p:sp>
      <p:sp>
        <p:nvSpPr>
          <p:cNvPr id="107" name="Google Shape;107;p18"/>
          <p:cNvSpPr/>
          <p:nvPr/>
        </p:nvSpPr>
        <p:spPr>
          <a:xfrm>
            <a:off x="480060" y="2743200"/>
            <a:ext cx="377190" cy="377190"/>
          </a:xfrm>
          <a:prstGeom prst="ellipse">
            <a:avLst/>
          </a:prstGeom>
          <a:solidFill>
            <a:srgbClr val="F9616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108" name="Google Shape;108;p18"/>
          <p:cNvSpPr/>
          <p:nvPr/>
        </p:nvSpPr>
        <p:spPr>
          <a:xfrm>
            <a:off x="480060" y="2743200"/>
            <a:ext cx="37719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GB"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109" name="Google Shape;109;p18"/>
          <p:cNvSpPr/>
          <p:nvPr/>
        </p:nvSpPr>
        <p:spPr>
          <a:xfrm>
            <a:off x="1028700" y="2708910"/>
            <a:ext cx="233172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100"/>
              <a:buFont typeface="Calibri"/>
              <a:buNone/>
            </a:pPr>
            <a:r>
              <a:rPr b="1" i="0" lang="en-GB" sz="1500" u="none" cap="none" strike="noStrike">
                <a:solidFill>
                  <a:schemeClr val="dk1"/>
                </a:solidFill>
              </a:rPr>
              <a:t>Checked missing values</a:t>
            </a:r>
            <a:endParaRPr i="0" sz="1500" u="none" cap="none" strike="noStrike">
              <a:solidFill>
                <a:schemeClr val="dk1"/>
              </a:solidFill>
            </a:endParaRPr>
          </a:p>
        </p:txBody>
      </p:sp>
      <p:sp>
        <p:nvSpPr>
          <p:cNvPr id="110" name="Google Shape;110;p18"/>
          <p:cNvSpPr/>
          <p:nvPr/>
        </p:nvSpPr>
        <p:spPr>
          <a:xfrm>
            <a:off x="3429000" y="2708910"/>
            <a:ext cx="521208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000"/>
              <a:buFont typeface="Calibri"/>
              <a:buNone/>
            </a:pPr>
            <a:r>
              <a:rPr i="0" lang="en-GB" sz="1500" u="none" cap="none" strike="noStrike">
                <a:solidFill>
                  <a:schemeClr val="dk1"/>
                </a:solidFill>
              </a:rPr>
              <a:t>0 found via .isnull() — conditional imputation (median/mode) built in</a:t>
            </a:r>
            <a:endParaRPr i="0" sz="1500" u="none" cap="none" strike="noStrike">
              <a:solidFill>
                <a:schemeClr val="dk1"/>
              </a:solidFill>
            </a:endParaRPr>
          </a:p>
        </p:txBody>
      </p:sp>
      <p:sp>
        <p:nvSpPr>
          <p:cNvPr id="111" name="Google Shape;111;p18"/>
          <p:cNvSpPr/>
          <p:nvPr/>
        </p:nvSpPr>
        <p:spPr>
          <a:xfrm>
            <a:off x="480060" y="3463290"/>
            <a:ext cx="377190" cy="377190"/>
          </a:xfrm>
          <a:prstGeom prst="ellipse">
            <a:avLst/>
          </a:prstGeom>
          <a:solidFill>
            <a:srgbClr val="F9616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112" name="Google Shape;112;p18"/>
          <p:cNvSpPr/>
          <p:nvPr/>
        </p:nvSpPr>
        <p:spPr>
          <a:xfrm>
            <a:off x="480060" y="3463290"/>
            <a:ext cx="37719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GB" sz="1500" u="none" cap="none" strike="noStrike">
                <a:solidFill>
                  <a:srgbClr val="FFFFFF"/>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113" name="Google Shape;113;p18"/>
          <p:cNvSpPr/>
          <p:nvPr/>
        </p:nvSpPr>
        <p:spPr>
          <a:xfrm>
            <a:off x="1028700" y="3429000"/>
            <a:ext cx="233172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100"/>
              <a:buFont typeface="Calibri"/>
              <a:buNone/>
            </a:pPr>
            <a:r>
              <a:rPr b="1" i="0" lang="en-GB" sz="1500" u="none" cap="none" strike="noStrike">
                <a:solidFill>
                  <a:schemeClr val="dk1"/>
                </a:solidFill>
              </a:rPr>
              <a:t>Standardized text fields</a:t>
            </a:r>
            <a:endParaRPr i="0" sz="1500" u="none" cap="none" strike="noStrike">
              <a:solidFill>
                <a:schemeClr val="dk1"/>
              </a:solidFill>
            </a:endParaRPr>
          </a:p>
        </p:txBody>
      </p:sp>
      <p:sp>
        <p:nvSpPr>
          <p:cNvPr id="114" name="Google Shape;114;p18"/>
          <p:cNvSpPr/>
          <p:nvPr/>
        </p:nvSpPr>
        <p:spPr>
          <a:xfrm>
            <a:off x="3429000" y="3429000"/>
            <a:ext cx="521208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000"/>
              <a:buFont typeface="Calibri"/>
              <a:buNone/>
            </a:pPr>
            <a:r>
              <a:rPr i="0" lang="en-GB" sz="1500" u="none" cap="none" strike="noStrike">
                <a:solidFill>
                  <a:schemeClr val="dk1"/>
                </a:solidFill>
              </a:rPr>
              <a:t>Trimmed whitespace on Geography and Gender using .str.strip()</a:t>
            </a:r>
            <a:endParaRPr i="0" sz="1500" u="none" cap="none" strike="noStrike">
              <a:solidFill>
                <a:schemeClr val="dk1"/>
              </a:solidFill>
            </a:endParaRPr>
          </a:p>
        </p:txBody>
      </p:sp>
      <p:sp>
        <p:nvSpPr>
          <p:cNvPr id="115" name="Google Shape;115;p18"/>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19" title="Screenshot 2026-08-06 180406.png"/>
          <p:cNvPicPr preferRelativeResize="0"/>
          <p:nvPr/>
        </p:nvPicPr>
        <p:blipFill>
          <a:blip r:embed="rId3">
            <a:alphaModFix/>
          </a:blip>
          <a:stretch>
            <a:fillRect/>
          </a:stretch>
        </p:blipFill>
        <p:spPr>
          <a:xfrm>
            <a:off x="979813" y="910638"/>
            <a:ext cx="7184375" cy="33222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20"/>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04</a:t>
            </a:r>
            <a:endParaRPr b="0" i="0" sz="1000" u="none" cap="none" strike="noStrike">
              <a:solidFill>
                <a:schemeClr val="dk1"/>
              </a:solidFill>
              <a:latin typeface="Calibri"/>
              <a:ea typeface="Calibri"/>
              <a:cs typeface="Calibri"/>
              <a:sym typeface="Calibri"/>
            </a:endParaRPr>
          </a:p>
        </p:txBody>
      </p:sp>
      <p:sp>
        <p:nvSpPr>
          <p:cNvPr id="127" name="Google Shape;127;p20"/>
          <p:cNvSpPr/>
          <p:nvPr/>
        </p:nvSpPr>
        <p:spPr>
          <a:xfrm>
            <a:off x="480060" y="493776"/>
            <a:ext cx="8181594"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2100" u="none" cap="none" strike="noStrike">
                <a:solidFill>
                  <a:srgbClr val="1E2761"/>
                </a:solidFill>
              </a:rPr>
              <a:t>Feature Engineering &amp; Analysis</a:t>
            </a:r>
            <a:endParaRPr i="0" sz="2100" u="none" cap="none" strike="noStrike">
              <a:solidFill>
                <a:schemeClr val="dk1"/>
              </a:solidFill>
            </a:endParaRPr>
          </a:p>
        </p:txBody>
      </p:sp>
      <p:sp>
        <p:nvSpPr>
          <p:cNvPr id="128" name="Google Shape;128;p20"/>
          <p:cNvSpPr/>
          <p:nvPr/>
        </p:nvSpPr>
        <p:spPr>
          <a:xfrm>
            <a:off x="480050" y="1234452"/>
            <a:ext cx="8160900" cy="3208200"/>
          </a:xfrm>
          <a:prstGeom prst="rect">
            <a:avLst/>
          </a:prstGeom>
          <a:noFill/>
          <a:ln>
            <a:noFill/>
          </a:ln>
        </p:spPr>
        <p:txBody>
          <a:bodyPr anchorCtr="0" anchor="t" bIns="34275" lIns="68575" spcFirstLastPara="1" rIns="68575" wrap="square" tIns="34275">
            <a:noAutofit/>
          </a:bodyPr>
          <a:lstStyle/>
          <a:p>
            <a:pPr indent="-279400" lvl="0" marL="254000" marR="0" rtl="0" algn="l">
              <a:spcBef>
                <a:spcPts val="0"/>
              </a:spcBef>
              <a:spcAft>
                <a:spcPts val="0"/>
              </a:spcAft>
              <a:buClr>
                <a:schemeClr val="dk1"/>
              </a:buClr>
              <a:buSzPts val="1600"/>
              <a:buChar char="●"/>
            </a:pPr>
            <a:r>
              <a:rPr i="0" lang="en-GB" sz="1600" u="none" cap="none" strike="noStrike">
                <a:solidFill>
                  <a:schemeClr val="dk1"/>
                </a:solidFill>
              </a:rPr>
              <a:t>Balance-to-Salary Ratio: wealth relative to income (+1 to salary avoids divide-by-zero)</a:t>
            </a:r>
            <a:endParaRPr i="0" sz="1600" u="none" cap="none" strike="noStrike">
              <a:solidFill>
                <a:schemeClr val="dk1"/>
              </a:solidFill>
            </a:endParaRPr>
          </a:p>
          <a:p>
            <a:pPr indent="-279400" lvl="0" marL="254000" marR="0" rtl="0" algn="l">
              <a:spcBef>
                <a:spcPts val="900"/>
              </a:spcBef>
              <a:spcAft>
                <a:spcPts val="0"/>
              </a:spcAft>
              <a:buClr>
                <a:schemeClr val="dk1"/>
              </a:buClr>
              <a:buSzPts val="1600"/>
              <a:buChar char="●"/>
            </a:pPr>
            <a:r>
              <a:rPr i="0" lang="en-GB" sz="1600" u="none" cap="none" strike="noStrike">
                <a:solidFill>
                  <a:schemeClr val="dk1"/>
                </a:solidFill>
              </a:rPr>
              <a:t>Age Group: binned exact ages into Young Adult / Middle Aged / Senior / Elderly via pd.cut()</a:t>
            </a:r>
            <a:endParaRPr i="0" sz="1600" u="none" cap="none" strike="noStrike">
              <a:solidFill>
                <a:schemeClr val="dk1"/>
              </a:solidFill>
            </a:endParaRPr>
          </a:p>
          <a:p>
            <a:pPr indent="-279400" lvl="0" marL="254000" marR="0" rtl="0" algn="l">
              <a:spcBef>
                <a:spcPts val="900"/>
              </a:spcBef>
              <a:spcAft>
                <a:spcPts val="0"/>
              </a:spcAft>
              <a:buClr>
                <a:schemeClr val="dk1"/>
              </a:buClr>
              <a:buSzPts val="1600"/>
              <a:buChar char="●"/>
            </a:pPr>
            <a:r>
              <a:rPr i="0" lang="en-GB" sz="1600" u="none" cap="none" strike="noStrike">
                <a:solidFill>
                  <a:schemeClr val="dk1"/>
                </a:solidFill>
              </a:rPr>
              <a:t>Filtering: isolated high-value churned customers (balance &gt; $100k)</a:t>
            </a:r>
            <a:endParaRPr i="0" sz="1600" u="none" cap="none" strike="noStrike">
              <a:solidFill>
                <a:schemeClr val="dk1"/>
              </a:solidFill>
            </a:endParaRPr>
          </a:p>
          <a:p>
            <a:pPr indent="-279400" lvl="0" marL="254000" marR="0" rtl="0" algn="l">
              <a:spcBef>
                <a:spcPts val="900"/>
              </a:spcBef>
              <a:spcAft>
                <a:spcPts val="0"/>
              </a:spcAft>
              <a:buClr>
                <a:schemeClr val="dk1"/>
              </a:buClr>
              <a:buSzPts val="1600"/>
              <a:buChar char="●"/>
            </a:pPr>
            <a:r>
              <a:rPr i="0" lang="en-GB" sz="1600" u="none" cap="none" strike="noStrike">
                <a:solidFill>
                  <a:schemeClr val="dk1"/>
                </a:solidFill>
              </a:rPr>
              <a:t>Sorting: identified the top 5 wealthiest customers</a:t>
            </a:r>
            <a:endParaRPr i="0" sz="1600" u="none" cap="none" strike="noStrike">
              <a:solidFill>
                <a:schemeClr val="dk1"/>
              </a:solidFill>
            </a:endParaRPr>
          </a:p>
          <a:p>
            <a:pPr indent="-279400" lvl="0" marL="254000" marR="0" rtl="0" algn="l">
              <a:spcBef>
                <a:spcPts val="900"/>
              </a:spcBef>
              <a:spcAft>
                <a:spcPts val="0"/>
              </a:spcAft>
              <a:buClr>
                <a:schemeClr val="dk1"/>
              </a:buClr>
              <a:buSzPts val="1600"/>
              <a:buChar char="●"/>
            </a:pPr>
            <a:r>
              <a:rPr i="0" lang="en-GB" sz="1600" u="none" cap="none" strike="noStrike">
                <a:solidFill>
                  <a:schemeClr val="dk1"/>
                </a:solidFill>
              </a:rPr>
              <a:t>Group-by aggregation: churn rate by Geography, Products, Activity — the source of every headline number in this deck</a:t>
            </a:r>
            <a:endParaRPr i="0" sz="1800" u="none" cap="none" strike="noStrike">
              <a:solidFill>
                <a:schemeClr val="dk1"/>
              </a:solidFill>
            </a:endParaRPr>
          </a:p>
        </p:txBody>
      </p:sp>
      <p:sp>
        <p:nvSpPr>
          <p:cNvPr id="129" name="Google Shape;129;p20"/>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21"/>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05</a:t>
            </a:r>
            <a:endParaRPr b="0" i="0" sz="1000" u="none" cap="none" strike="noStrike">
              <a:solidFill>
                <a:schemeClr val="dk1"/>
              </a:solidFill>
              <a:latin typeface="Calibri"/>
              <a:ea typeface="Calibri"/>
              <a:cs typeface="Calibri"/>
              <a:sym typeface="Calibri"/>
            </a:endParaRPr>
          </a:p>
        </p:txBody>
      </p:sp>
      <p:sp>
        <p:nvSpPr>
          <p:cNvPr id="136" name="Google Shape;136;p21"/>
          <p:cNvSpPr/>
          <p:nvPr/>
        </p:nvSpPr>
        <p:spPr>
          <a:xfrm>
            <a:off x="480060" y="493776"/>
            <a:ext cx="8181594"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2100" u="none" cap="none" strike="noStrike">
                <a:solidFill>
                  <a:srgbClr val="1E2761"/>
                </a:solidFill>
              </a:rPr>
              <a:t>Visualizations — Part 1</a:t>
            </a:r>
            <a:endParaRPr i="0" sz="2100" u="none" cap="none" strike="noStrike">
              <a:solidFill>
                <a:schemeClr val="dk1"/>
              </a:solidFill>
            </a:endParaRPr>
          </a:p>
        </p:txBody>
      </p:sp>
      <p:pic>
        <p:nvPicPr>
          <p:cNvPr descr="geo_churn-bar.png" id="137" name="Google Shape;137;p21"/>
          <p:cNvPicPr preferRelativeResize="0"/>
          <p:nvPr/>
        </p:nvPicPr>
        <p:blipFill rotWithShape="1">
          <a:blip r:embed="rId3">
            <a:alphaModFix/>
          </a:blip>
          <a:srcRect b="0" l="0" r="0" t="0"/>
          <a:stretch/>
        </p:blipFill>
        <p:spPr>
          <a:xfrm>
            <a:off x="480060" y="1200150"/>
            <a:ext cx="2537460" cy="1748790"/>
          </a:xfrm>
          <a:prstGeom prst="rect">
            <a:avLst/>
          </a:prstGeom>
          <a:noFill/>
          <a:ln>
            <a:noFill/>
          </a:ln>
        </p:spPr>
      </p:pic>
      <p:sp>
        <p:nvSpPr>
          <p:cNvPr id="138" name="Google Shape;138;p21"/>
          <p:cNvSpPr/>
          <p:nvPr/>
        </p:nvSpPr>
        <p:spPr>
          <a:xfrm>
            <a:off x="480060" y="3003804"/>
            <a:ext cx="2537460"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2761"/>
              </a:buClr>
              <a:buSzPts val="1000"/>
              <a:buFont typeface="Calibri"/>
              <a:buNone/>
            </a:pPr>
            <a:r>
              <a:rPr b="1" i="0" lang="en-GB" sz="1000" u="none" cap="none" strike="noStrike">
                <a:solidFill>
                  <a:srgbClr val="1E2761"/>
                </a:solidFill>
                <a:latin typeface="Calibri"/>
                <a:ea typeface="Calibri"/>
                <a:cs typeface="Calibri"/>
                <a:sym typeface="Calibri"/>
              </a:rPr>
              <a:t>Churn by Geography</a:t>
            </a:r>
            <a:endParaRPr b="0" i="0" sz="1000" u="none" cap="none" strike="noStrike">
              <a:solidFill>
                <a:schemeClr val="dk1"/>
              </a:solidFill>
              <a:latin typeface="Calibri"/>
              <a:ea typeface="Calibri"/>
              <a:cs typeface="Calibri"/>
              <a:sym typeface="Calibri"/>
            </a:endParaRPr>
          </a:p>
        </p:txBody>
      </p:sp>
      <p:sp>
        <p:nvSpPr>
          <p:cNvPr id="139" name="Google Shape;139;p21"/>
          <p:cNvSpPr/>
          <p:nvPr/>
        </p:nvSpPr>
        <p:spPr>
          <a:xfrm>
            <a:off x="480060" y="3236976"/>
            <a:ext cx="2537460" cy="48006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666666"/>
              </a:buClr>
              <a:buSzPts val="900"/>
              <a:buFont typeface="Calibri"/>
              <a:buNone/>
            </a:pPr>
            <a:r>
              <a:rPr b="0" i="0" lang="en-GB" sz="900" u="none" cap="none" strike="noStrike">
                <a:solidFill>
                  <a:srgbClr val="666666"/>
                </a:solidFill>
                <a:latin typeface="Calibri"/>
                <a:ea typeface="Calibri"/>
                <a:cs typeface="Calibri"/>
                <a:sym typeface="Calibri"/>
              </a:rPr>
              <a:t>Bar chart — Germany 32.4% vs. France 16.2% / Spain 16.7%</a:t>
            </a:r>
            <a:endParaRPr b="0" i="0" sz="900" u="none" cap="none" strike="noStrike">
              <a:solidFill>
                <a:schemeClr val="dk1"/>
              </a:solidFill>
              <a:latin typeface="Calibri"/>
              <a:ea typeface="Calibri"/>
              <a:cs typeface="Calibri"/>
              <a:sym typeface="Calibri"/>
            </a:endParaRPr>
          </a:p>
        </p:txBody>
      </p:sp>
      <p:pic>
        <p:nvPicPr>
          <p:cNvPr descr="age_distribution_histogram.png" id="140" name="Google Shape;140;p21"/>
          <p:cNvPicPr preferRelativeResize="0"/>
          <p:nvPr/>
        </p:nvPicPr>
        <p:blipFill rotWithShape="1">
          <a:blip r:embed="rId4">
            <a:alphaModFix/>
          </a:blip>
          <a:srcRect b="0" l="0" r="0" t="0"/>
          <a:stretch/>
        </p:blipFill>
        <p:spPr>
          <a:xfrm>
            <a:off x="3257550" y="1200150"/>
            <a:ext cx="2537460" cy="1748790"/>
          </a:xfrm>
          <a:prstGeom prst="rect">
            <a:avLst/>
          </a:prstGeom>
          <a:noFill/>
          <a:ln>
            <a:noFill/>
          </a:ln>
        </p:spPr>
      </p:pic>
      <p:sp>
        <p:nvSpPr>
          <p:cNvPr id="141" name="Google Shape;141;p21"/>
          <p:cNvSpPr/>
          <p:nvPr/>
        </p:nvSpPr>
        <p:spPr>
          <a:xfrm>
            <a:off x="3257550" y="3003804"/>
            <a:ext cx="2537460"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2761"/>
              </a:buClr>
              <a:buSzPts val="1000"/>
              <a:buFont typeface="Calibri"/>
              <a:buNone/>
            </a:pPr>
            <a:r>
              <a:rPr b="1" i="0" lang="en-GB" sz="1000" u="none" cap="none" strike="noStrike">
                <a:solidFill>
                  <a:srgbClr val="1E2761"/>
                </a:solidFill>
                <a:latin typeface="Calibri"/>
                <a:ea typeface="Calibri"/>
                <a:cs typeface="Calibri"/>
                <a:sym typeface="Calibri"/>
              </a:rPr>
              <a:t>Age Distribution</a:t>
            </a:r>
            <a:endParaRPr b="0" i="0" sz="1000" u="none" cap="none" strike="noStrike">
              <a:solidFill>
                <a:schemeClr val="dk1"/>
              </a:solidFill>
              <a:latin typeface="Calibri"/>
              <a:ea typeface="Calibri"/>
              <a:cs typeface="Calibri"/>
              <a:sym typeface="Calibri"/>
            </a:endParaRPr>
          </a:p>
        </p:txBody>
      </p:sp>
      <p:sp>
        <p:nvSpPr>
          <p:cNvPr id="142" name="Google Shape;142;p21"/>
          <p:cNvSpPr/>
          <p:nvPr/>
        </p:nvSpPr>
        <p:spPr>
          <a:xfrm>
            <a:off x="3257550" y="3236976"/>
            <a:ext cx="2537460" cy="48006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666666"/>
              </a:buClr>
              <a:buSzPts val="900"/>
              <a:buFont typeface="Calibri"/>
              <a:buNone/>
            </a:pPr>
            <a:r>
              <a:rPr b="0" i="0" lang="en-GB" sz="900" u="none" cap="none" strike="noStrike">
                <a:solidFill>
                  <a:srgbClr val="666666"/>
                </a:solidFill>
                <a:latin typeface="Calibri"/>
                <a:ea typeface="Calibri"/>
                <a:cs typeface="Calibri"/>
                <a:sym typeface="Calibri"/>
              </a:rPr>
              <a:t>Histogram — churners skew noticeably older</a:t>
            </a:r>
            <a:endParaRPr b="0" i="0" sz="900" u="none" cap="none" strike="noStrike">
              <a:solidFill>
                <a:schemeClr val="dk1"/>
              </a:solidFill>
              <a:latin typeface="Calibri"/>
              <a:ea typeface="Calibri"/>
              <a:cs typeface="Calibri"/>
              <a:sym typeface="Calibri"/>
            </a:endParaRPr>
          </a:p>
        </p:txBody>
      </p:sp>
      <p:pic>
        <p:nvPicPr>
          <p:cNvPr descr="credit_score_boxp.png" id="143" name="Google Shape;143;p21"/>
          <p:cNvPicPr preferRelativeResize="0"/>
          <p:nvPr/>
        </p:nvPicPr>
        <p:blipFill rotWithShape="1">
          <a:blip r:embed="rId5">
            <a:alphaModFix/>
          </a:blip>
          <a:srcRect b="0" l="0" r="0" t="0"/>
          <a:stretch/>
        </p:blipFill>
        <p:spPr>
          <a:xfrm>
            <a:off x="6035040" y="1200150"/>
            <a:ext cx="2537460" cy="1748790"/>
          </a:xfrm>
          <a:prstGeom prst="rect">
            <a:avLst/>
          </a:prstGeom>
          <a:noFill/>
          <a:ln>
            <a:noFill/>
          </a:ln>
        </p:spPr>
      </p:pic>
      <p:sp>
        <p:nvSpPr>
          <p:cNvPr id="144" name="Google Shape;144;p21"/>
          <p:cNvSpPr/>
          <p:nvPr/>
        </p:nvSpPr>
        <p:spPr>
          <a:xfrm>
            <a:off x="6035040" y="3003804"/>
            <a:ext cx="2537460"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2761"/>
              </a:buClr>
              <a:buSzPts val="1000"/>
              <a:buFont typeface="Calibri"/>
              <a:buNone/>
            </a:pPr>
            <a:r>
              <a:rPr b="1" i="0" lang="en-GB" sz="1000" u="none" cap="none" strike="noStrike">
                <a:solidFill>
                  <a:srgbClr val="1E2761"/>
                </a:solidFill>
                <a:latin typeface="Calibri"/>
                <a:ea typeface="Calibri"/>
                <a:cs typeface="Calibri"/>
                <a:sym typeface="Calibri"/>
              </a:rPr>
              <a:t>Credit Score by Churn</a:t>
            </a:r>
            <a:endParaRPr b="0" i="0" sz="1000" u="none" cap="none" strike="noStrike">
              <a:solidFill>
                <a:schemeClr val="dk1"/>
              </a:solidFill>
              <a:latin typeface="Calibri"/>
              <a:ea typeface="Calibri"/>
              <a:cs typeface="Calibri"/>
              <a:sym typeface="Calibri"/>
            </a:endParaRPr>
          </a:p>
        </p:txBody>
      </p:sp>
      <p:sp>
        <p:nvSpPr>
          <p:cNvPr id="145" name="Google Shape;145;p21"/>
          <p:cNvSpPr/>
          <p:nvPr/>
        </p:nvSpPr>
        <p:spPr>
          <a:xfrm>
            <a:off x="6035040" y="3236976"/>
            <a:ext cx="2537460" cy="48006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666666"/>
              </a:buClr>
              <a:buSzPts val="900"/>
              <a:buFont typeface="Calibri"/>
              <a:buNone/>
            </a:pPr>
            <a:r>
              <a:rPr b="0" i="0" lang="en-GB" sz="900" u="none" cap="none" strike="noStrike">
                <a:solidFill>
                  <a:srgbClr val="666666"/>
                </a:solidFill>
                <a:latin typeface="Calibri"/>
                <a:ea typeface="Calibri"/>
                <a:cs typeface="Calibri"/>
                <a:sym typeface="Calibri"/>
              </a:rPr>
              <a:t>Box plot — retained vs. exited look almost identical</a:t>
            </a:r>
            <a:endParaRPr b="0" i="0" sz="900" u="none" cap="none" strike="noStrike">
              <a:solidFill>
                <a:schemeClr val="dk1"/>
              </a:solidFill>
              <a:latin typeface="Calibri"/>
              <a:ea typeface="Calibri"/>
              <a:cs typeface="Calibri"/>
              <a:sym typeface="Calibri"/>
            </a:endParaRPr>
          </a:p>
        </p:txBody>
      </p:sp>
      <p:sp>
        <p:nvSpPr>
          <p:cNvPr id="146" name="Google Shape;146;p21"/>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22"/>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05</a:t>
            </a:r>
            <a:endParaRPr b="0" i="0" sz="1000" u="none" cap="none" strike="noStrike">
              <a:solidFill>
                <a:schemeClr val="dk1"/>
              </a:solidFill>
              <a:latin typeface="Calibri"/>
              <a:ea typeface="Calibri"/>
              <a:cs typeface="Calibri"/>
              <a:sym typeface="Calibri"/>
            </a:endParaRPr>
          </a:p>
        </p:txBody>
      </p:sp>
      <p:sp>
        <p:nvSpPr>
          <p:cNvPr id="153" name="Google Shape;153;p22"/>
          <p:cNvSpPr/>
          <p:nvPr/>
        </p:nvSpPr>
        <p:spPr>
          <a:xfrm>
            <a:off x="480060" y="493776"/>
            <a:ext cx="8181594"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2100" u="none" cap="none" strike="noStrike">
                <a:solidFill>
                  <a:srgbClr val="1E2761"/>
                </a:solidFill>
              </a:rPr>
              <a:t>Visualizations — Part 2</a:t>
            </a:r>
            <a:endParaRPr i="0" sz="2100" u="none" cap="none" strike="noStrike">
              <a:solidFill>
                <a:schemeClr val="dk1"/>
              </a:solidFill>
            </a:endParaRPr>
          </a:p>
        </p:txBody>
      </p:sp>
      <p:pic>
        <p:nvPicPr>
          <p:cNvPr descr="balance_vs_salary.png" id="154" name="Google Shape;154;p22"/>
          <p:cNvPicPr preferRelativeResize="0"/>
          <p:nvPr/>
        </p:nvPicPr>
        <p:blipFill rotWithShape="1">
          <a:blip r:embed="rId3">
            <a:alphaModFix/>
          </a:blip>
          <a:srcRect b="0" l="0" r="0" t="0"/>
          <a:stretch/>
        </p:blipFill>
        <p:spPr>
          <a:xfrm>
            <a:off x="480060" y="1200150"/>
            <a:ext cx="2537460" cy="1748790"/>
          </a:xfrm>
          <a:prstGeom prst="rect">
            <a:avLst/>
          </a:prstGeom>
          <a:noFill/>
          <a:ln>
            <a:noFill/>
          </a:ln>
        </p:spPr>
      </p:pic>
      <p:sp>
        <p:nvSpPr>
          <p:cNvPr id="155" name="Google Shape;155;p22"/>
          <p:cNvSpPr/>
          <p:nvPr/>
        </p:nvSpPr>
        <p:spPr>
          <a:xfrm>
            <a:off x="480060" y="3003804"/>
            <a:ext cx="2537460"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2761"/>
              </a:buClr>
              <a:buSzPts val="1000"/>
              <a:buFont typeface="Calibri"/>
              <a:buNone/>
            </a:pPr>
            <a:r>
              <a:rPr b="1" i="0" lang="en-GB" sz="1000" u="none" cap="none" strike="noStrike">
                <a:solidFill>
                  <a:srgbClr val="1E2761"/>
                </a:solidFill>
                <a:latin typeface="Calibri"/>
                <a:ea typeface="Calibri"/>
                <a:cs typeface="Calibri"/>
                <a:sym typeface="Calibri"/>
              </a:rPr>
              <a:t>Balance vs. Salary</a:t>
            </a:r>
            <a:endParaRPr b="0" i="0" sz="1000" u="none" cap="none" strike="noStrike">
              <a:solidFill>
                <a:schemeClr val="dk1"/>
              </a:solidFill>
              <a:latin typeface="Calibri"/>
              <a:ea typeface="Calibri"/>
              <a:cs typeface="Calibri"/>
              <a:sym typeface="Calibri"/>
            </a:endParaRPr>
          </a:p>
        </p:txBody>
      </p:sp>
      <p:sp>
        <p:nvSpPr>
          <p:cNvPr id="156" name="Google Shape;156;p22"/>
          <p:cNvSpPr/>
          <p:nvPr/>
        </p:nvSpPr>
        <p:spPr>
          <a:xfrm>
            <a:off x="480060" y="3236976"/>
            <a:ext cx="2537460" cy="48006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666666"/>
              </a:buClr>
              <a:buSzPts val="900"/>
              <a:buFont typeface="Calibri"/>
              <a:buNone/>
            </a:pPr>
            <a:r>
              <a:rPr b="0" i="0" lang="en-GB" sz="900" u="none" cap="none" strike="noStrike">
                <a:solidFill>
                  <a:srgbClr val="666666"/>
                </a:solidFill>
                <a:latin typeface="Calibri"/>
                <a:ea typeface="Calibri"/>
                <a:cs typeface="Calibri"/>
                <a:sym typeface="Calibri"/>
              </a:rPr>
              <a:t>Scatter plot — no clean pattern; wealth alone doesn't predict churn</a:t>
            </a:r>
            <a:endParaRPr b="0" i="0" sz="900" u="none" cap="none" strike="noStrike">
              <a:solidFill>
                <a:schemeClr val="dk1"/>
              </a:solidFill>
              <a:latin typeface="Calibri"/>
              <a:ea typeface="Calibri"/>
              <a:cs typeface="Calibri"/>
              <a:sym typeface="Calibri"/>
            </a:endParaRPr>
          </a:p>
        </p:txBody>
      </p:sp>
      <p:pic>
        <p:nvPicPr>
          <p:cNvPr descr="churn_pie_chart.png" id="157" name="Google Shape;157;p22"/>
          <p:cNvPicPr preferRelativeResize="0"/>
          <p:nvPr/>
        </p:nvPicPr>
        <p:blipFill rotWithShape="1">
          <a:blip r:embed="rId4">
            <a:alphaModFix/>
          </a:blip>
          <a:srcRect b="0" l="0" r="0" t="0"/>
          <a:stretch/>
        </p:blipFill>
        <p:spPr>
          <a:xfrm>
            <a:off x="3257550" y="1200150"/>
            <a:ext cx="2537460" cy="1748790"/>
          </a:xfrm>
          <a:prstGeom prst="rect">
            <a:avLst/>
          </a:prstGeom>
          <a:noFill/>
          <a:ln>
            <a:noFill/>
          </a:ln>
        </p:spPr>
      </p:pic>
      <p:sp>
        <p:nvSpPr>
          <p:cNvPr id="158" name="Google Shape;158;p22"/>
          <p:cNvSpPr/>
          <p:nvPr/>
        </p:nvSpPr>
        <p:spPr>
          <a:xfrm>
            <a:off x="3257550" y="3003804"/>
            <a:ext cx="2537460"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2761"/>
              </a:buClr>
              <a:buSzPts val="1000"/>
              <a:buFont typeface="Calibri"/>
              <a:buNone/>
            </a:pPr>
            <a:r>
              <a:rPr b="1" i="0" lang="en-GB" sz="1000" u="none" cap="none" strike="noStrike">
                <a:solidFill>
                  <a:srgbClr val="1E2761"/>
                </a:solidFill>
                <a:latin typeface="Calibri"/>
                <a:ea typeface="Calibri"/>
                <a:cs typeface="Calibri"/>
                <a:sym typeface="Calibri"/>
              </a:rPr>
              <a:t>Overall Exit Proportion</a:t>
            </a:r>
            <a:endParaRPr b="0" i="0" sz="1000" u="none" cap="none" strike="noStrike">
              <a:solidFill>
                <a:schemeClr val="dk1"/>
              </a:solidFill>
              <a:latin typeface="Calibri"/>
              <a:ea typeface="Calibri"/>
              <a:cs typeface="Calibri"/>
              <a:sym typeface="Calibri"/>
            </a:endParaRPr>
          </a:p>
        </p:txBody>
      </p:sp>
      <p:sp>
        <p:nvSpPr>
          <p:cNvPr id="159" name="Google Shape;159;p22"/>
          <p:cNvSpPr/>
          <p:nvPr/>
        </p:nvSpPr>
        <p:spPr>
          <a:xfrm>
            <a:off x="3257550" y="3236976"/>
            <a:ext cx="2537460" cy="48006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666666"/>
              </a:buClr>
              <a:buSzPts val="900"/>
              <a:buFont typeface="Calibri"/>
              <a:buNone/>
            </a:pPr>
            <a:r>
              <a:rPr b="0" i="0" lang="en-GB" sz="900" u="none" cap="none" strike="noStrike">
                <a:solidFill>
                  <a:srgbClr val="666666"/>
                </a:solidFill>
                <a:latin typeface="Calibri"/>
                <a:ea typeface="Calibri"/>
                <a:cs typeface="Calibri"/>
                <a:sym typeface="Calibri"/>
              </a:rPr>
              <a:t>Pie chart — 79.6% retained / 20.4% exited (class imbalance)</a:t>
            </a:r>
            <a:endParaRPr b="0" i="0" sz="900" u="none" cap="none" strike="noStrike">
              <a:solidFill>
                <a:schemeClr val="dk1"/>
              </a:solidFill>
              <a:latin typeface="Calibri"/>
              <a:ea typeface="Calibri"/>
              <a:cs typeface="Calibri"/>
              <a:sym typeface="Calibri"/>
            </a:endParaRPr>
          </a:p>
        </p:txBody>
      </p:sp>
      <p:pic>
        <p:nvPicPr>
          <p:cNvPr descr="Correlation_heatmap.png" id="160" name="Google Shape;160;p22"/>
          <p:cNvPicPr preferRelativeResize="0"/>
          <p:nvPr/>
        </p:nvPicPr>
        <p:blipFill rotWithShape="1">
          <a:blip r:embed="rId5">
            <a:alphaModFix/>
          </a:blip>
          <a:srcRect b="0" l="0" r="0" t="0"/>
          <a:stretch/>
        </p:blipFill>
        <p:spPr>
          <a:xfrm>
            <a:off x="6035040" y="1200150"/>
            <a:ext cx="2537460" cy="1748790"/>
          </a:xfrm>
          <a:prstGeom prst="rect">
            <a:avLst/>
          </a:prstGeom>
          <a:noFill/>
          <a:ln>
            <a:noFill/>
          </a:ln>
        </p:spPr>
      </p:pic>
      <p:sp>
        <p:nvSpPr>
          <p:cNvPr id="161" name="Google Shape;161;p22"/>
          <p:cNvSpPr/>
          <p:nvPr/>
        </p:nvSpPr>
        <p:spPr>
          <a:xfrm>
            <a:off x="6035040" y="3003804"/>
            <a:ext cx="2537460" cy="2400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E2761"/>
              </a:buClr>
              <a:buSzPts val="1000"/>
              <a:buFont typeface="Calibri"/>
              <a:buNone/>
            </a:pPr>
            <a:r>
              <a:rPr b="1" i="0" lang="en-GB" sz="1000" u="none" cap="none" strike="noStrike">
                <a:solidFill>
                  <a:srgbClr val="1E2761"/>
                </a:solidFill>
                <a:latin typeface="Calibri"/>
                <a:ea typeface="Calibri"/>
                <a:cs typeface="Calibri"/>
                <a:sym typeface="Calibri"/>
              </a:rPr>
              <a:t>Correlation Heatmap</a:t>
            </a:r>
            <a:endParaRPr b="0" i="0" sz="1000" u="none" cap="none" strike="noStrike">
              <a:solidFill>
                <a:schemeClr val="dk1"/>
              </a:solidFill>
              <a:latin typeface="Calibri"/>
              <a:ea typeface="Calibri"/>
              <a:cs typeface="Calibri"/>
              <a:sym typeface="Calibri"/>
            </a:endParaRPr>
          </a:p>
        </p:txBody>
      </p:sp>
      <p:sp>
        <p:nvSpPr>
          <p:cNvPr id="162" name="Google Shape;162;p22"/>
          <p:cNvSpPr/>
          <p:nvPr/>
        </p:nvSpPr>
        <p:spPr>
          <a:xfrm>
            <a:off x="6035040" y="3236976"/>
            <a:ext cx="2537460" cy="48006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666666"/>
              </a:buClr>
              <a:buSzPts val="900"/>
              <a:buFont typeface="Calibri"/>
              <a:buNone/>
            </a:pPr>
            <a:r>
              <a:rPr b="0" i="0" lang="en-GB" sz="900" u="none" cap="none" strike="noStrike">
                <a:solidFill>
                  <a:srgbClr val="666666"/>
                </a:solidFill>
                <a:latin typeface="Calibri"/>
                <a:ea typeface="Calibri"/>
                <a:cs typeface="Calibri"/>
                <a:sym typeface="Calibri"/>
              </a:rPr>
              <a:t>Heatmap — Age has the strongest (still weak) link to churn</a:t>
            </a:r>
            <a:endParaRPr b="0" i="0" sz="900" u="none" cap="none" strike="noStrike">
              <a:solidFill>
                <a:schemeClr val="dk1"/>
              </a:solidFill>
              <a:latin typeface="Calibri"/>
              <a:ea typeface="Calibri"/>
              <a:cs typeface="Calibri"/>
              <a:sym typeface="Calibri"/>
            </a:endParaRPr>
          </a:p>
        </p:txBody>
      </p:sp>
      <p:sp>
        <p:nvSpPr>
          <p:cNvPr id="163" name="Google Shape;163;p22"/>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23"/>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06</a:t>
            </a:r>
            <a:endParaRPr b="0" i="0" sz="1000" u="none" cap="none" strike="noStrike">
              <a:solidFill>
                <a:schemeClr val="dk1"/>
              </a:solidFill>
              <a:latin typeface="Calibri"/>
              <a:ea typeface="Calibri"/>
              <a:cs typeface="Calibri"/>
              <a:sym typeface="Calibri"/>
            </a:endParaRPr>
          </a:p>
        </p:txBody>
      </p:sp>
      <p:sp>
        <p:nvSpPr>
          <p:cNvPr id="170" name="Google Shape;170;p23"/>
          <p:cNvSpPr/>
          <p:nvPr/>
        </p:nvSpPr>
        <p:spPr>
          <a:xfrm>
            <a:off x="480060" y="493776"/>
            <a:ext cx="8181594"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2100" u="none" cap="none" strike="noStrike">
                <a:solidFill>
                  <a:srgbClr val="1E2761"/>
                </a:solidFill>
              </a:rPr>
              <a:t>Building the Machine Learning Model</a:t>
            </a:r>
            <a:endParaRPr i="0" sz="2100" u="none" cap="none" strike="noStrike">
              <a:solidFill>
                <a:schemeClr val="dk1"/>
              </a:solidFill>
            </a:endParaRPr>
          </a:p>
        </p:txBody>
      </p:sp>
      <p:sp>
        <p:nvSpPr>
          <p:cNvPr id="171" name="Google Shape;171;p23"/>
          <p:cNvSpPr/>
          <p:nvPr/>
        </p:nvSpPr>
        <p:spPr>
          <a:xfrm>
            <a:off x="480060" y="1165860"/>
            <a:ext cx="8161020" cy="30861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200"/>
              <a:buFont typeface="Calibri"/>
              <a:buNone/>
            </a:pPr>
            <a:r>
              <a:rPr b="1" i="0" lang="en-GB" sz="1500" u="none" cap="none" strike="noStrike">
                <a:solidFill>
                  <a:schemeClr val="dk1"/>
                </a:solidFill>
              </a:rPr>
              <a:t>Decision Tree Classifier — learns yes/no questions to predict churn</a:t>
            </a:r>
            <a:endParaRPr i="0" sz="1500" u="none" cap="none" strike="noStrike">
              <a:solidFill>
                <a:schemeClr val="dk1"/>
              </a:solidFill>
            </a:endParaRPr>
          </a:p>
        </p:txBody>
      </p:sp>
      <p:sp>
        <p:nvSpPr>
          <p:cNvPr id="172" name="Google Shape;172;p23"/>
          <p:cNvSpPr/>
          <p:nvPr/>
        </p:nvSpPr>
        <p:spPr>
          <a:xfrm>
            <a:off x="480060" y="1714500"/>
            <a:ext cx="377190" cy="377190"/>
          </a:xfrm>
          <a:prstGeom prst="ellipse">
            <a:avLst/>
          </a:prstGeom>
          <a:solidFill>
            <a:srgbClr val="F9616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solidFill>
                <a:schemeClr val="dk1"/>
              </a:solidFill>
            </a:endParaRPr>
          </a:p>
        </p:txBody>
      </p:sp>
      <p:sp>
        <p:nvSpPr>
          <p:cNvPr id="173" name="Google Shape;173;p23"/>
          <p:cNvSpPr/>
          <p:nvPr/>
        </p:nvSpPr>
        <p:spPr>
          <a:xfrm>
            <a:off x="480060" y="1714500"/>
            <a:ext cx="37719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GB" sz="1500" u="none" cap="none" strike="noStrike">
                <a:solidFill>
                  <a:schemeClr val="dk1"/>
                </a:solidFill>
              </a:rPr>
              <a:t>1</a:t>
            </a:r>
            <a:endParaRPr i="0" sz="1500" u="none" cap="none" strike="noStrike">
              <a:solidFill>
                <a:schemeClr val="dk1"/>
              </a:solidFill>
            </a:endParaRPr>
          </a:p>
        </p:txBody>
      </p:sp>
      <p:sp>
        <p:nvSpPr>
          <p:cNvPr id="174" name="Google Shape;174;p23"/>
          <p:cNvSpPr/>
          <p:nvPr/>
        </p:nvSpPr>
        <p:spPr>
          <a:xfrm>
            <a:off x="1028700" y="1680210"/>
            <a:ext cx="192024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100"/>
              <a:buFont typeface="Calibri"/>
              <a:buNone/>
            </a:pPr>
            <a:r>
              <a:rPr b="1" i="0" lang="en-GB" sz="1500" u="none" cap="none" strike="noStrike">
                <a:solidFill>
                  <a:schemeClr val="dk1"/>
                </a:solidFill>
              </a:rPr>
              <a:t>Encoding</a:t>
            </a:r>
            <a:endParaRPr i="0" sz="1500" u="none" cap="none" strike="noStrike">
              <a:solidFill>
                <a:schemeClr val="dk1"/>
              </a:solidFill>
            </a:endParaRPr>
          </a:p>
        </p:txBody>
      </p:sp>
      <p:sp>
        <p:nvSpPr>
          <p:cNvPr id="175" name="Google Shape;175;p23"/>
          <p:cNvSpPr/>
          <p:nvPr/>
        </p:nvSpPr>
        <p:spPr>
          <a:xfrm>
            <a:off x="3017520" y="1680210"/>
            <a:ext cx="562356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100"/>
              <a:buFont typeface="Calibri"/>
              <a:buNone/>
            </a:pPr>
            <a:r>
              <a:rPr i="0" lang="en-GB" sz="1500" u="none" cap="none" strike="noStrike">
                <a:solidFill>
                  <a:schemeClr val="dk1"/>
                </a:solidFill>
              </a:rPr>
              <a:t>Geography → one-hot encoded (no false ranking); Gender → simple 1/0</a:t>
            </a:r>
            <a:endParaRPr i="0" sz="1500" u="none" cap="none" strike="noStrike">
              <a:solidFill>
                <a:schemeClr val="dk1"/>
              </a:solidFill>
            </a:endParaRPr>
          </a:p>
        </p:txBody>
      </p:sp>
      <p:sp>
        <p:nvSpPr>
          <p:cNvPr id="176" name="Google Shape;176;p23"/>
          <p:cNvSpPr/>
          <p:nvPr/>
        </p:nvSpPr>
        <p:spPr>
          <a:xfrm>
            <a:off x="480060" y="2503170"/>
            <a:ext cx="377190" cy="377190"/>
          </a:xfrm>
          <a:prstGeom prst="ellipse">
            <a:avLst/>
          </a:prstGeom>
          <a:solidFill>
            <a:srgbClr val="F9616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solidFill>
                <a:schemeClr val="dk1"/>
              </a:solidFill>
            </a:endParaRPr>
          </a:p>
        </p:txBody>
      </p:sp>
      <p:sp>
        <p:nvSpPr>
          <p:cNvPr id="177" name="Google Shape;177;p23"/>
          <p:cNvSpPr/>
          <p:nvPr/>
        </p:nvSpPr>
        <p:spPr>
          <a:xfrm>
            <a:off x="480060" y="2503170"/>
            <a:ext cx="37719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GB" sz="1500" u="none" cap="none" strike="noStrike">
                <a:solidFill>
                  <a:schemeClr val="dk1"/>
                </a:solidFill>
              </a:rPr>
              <a:t>2</a:t>
            </a:r>
            <a:endParaRPr i="0" sz="1500" u="none" cap="none" strike="noStrike">
              <a:solidFill>
                <a:schemeClr val="dk1"/>
              </a:solidFill>
            </a:endParaRPr>
          </a:p>
        </p:txBody>
      </p:sp>
      <p:sp>
        <p:nvSpPr>
          <p:cNvPr id="178" name="Google Shape;178;p23"/>
          <p:cNvSpPr/>
          <p:nvPr/>
        </p:nvSpPr>
        <p:spPr>
          <a:xfrm>
            <a:off x="1028700" y="2468880"/>
            <a:ext cx="192024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100"/>
              <a:buFont typeface="Calibri"/>
              <a:buNone/>
            </a:pPr>
            <a:r>
              <a:rPr b="1" i="0" lang="en-GB" sz="1500" u="none" cap="none" strike="noStrike">
                <a:solidFill>
                  <a:schemeClr val="dk1"/>
                </a:solidFill>
              </a:rPr>
              <a:t>Scaling</a:t>
            </a:r>
            <a:endParaRPr i="0" sz="1500" u="none" cap="none" strike="noStrike">
              <a:solidFill>
                <a:schemeClr val="dk1"/>
              </a:solidFill>
            </a:endParaRPr>
          </a:p>
        </p:txBody>
      </p:sp>
      <p:sp>
        <p:nvSpPr>
          <p:cNvPr id="179" name="Google Shape;179;p23"/>
          <p:cNvSpPr/>
          <p:nvPr/>
        </p:nvSpPr>
        <p:spPr>
          <a:xfrm>
            <a:off x="3017520" y="2468880"/>
            <a:ext cx="562356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100"/>
              <a:buFont typeface="Calibri"/>
              <a:buNone/>
            </a:pPr>
            <a:r>
              <a:rPr i="0" lang="en-GB" sz="1500" u="none" cap="none" strike="noStrike">
                <a:solidFill>
                  <a:schemeClr val="dk1"/>
                </a:solidFill>
              </a:rPr>
              <a:t>StandardScaler — puts Balance and CreditScore on the same footing</a:t>
            </a:r>
            <a:endParaRPr i="0" sz="1500" u="none" cap="none" strike="noStrike">
              <a:solidFill>
                <a:schemeClr val="dk1"/>
              </a:solidFill>
            </a:endParaRPr>
          </a:p>
        </p:txBody>
      </p:sp>
      <p:sp>
        <p:nvSpPr>
          <p:cNvPr id="180" name="Google Shape;180;p23"/>
          <p:cNvSpPr/>
          <p:nvPr/>
        </p:nvSpPr>
        <p:spPr>
          <a:xfrm>
            <a:off x="480060" y="3291840"/>
            <a:ext cx="377190" cy="377190"/>
          </a:xfrm>
          <a:prstGeom prst="ellipse">
            <a:avLst/>
          </a:prstGeom>
          <a:solidFill>
            <a:srgbClr val="F9616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solidFill>
                <a:schemeClr val="dk1"/>
              </a:solidFill>
            </a:endParaRPr>
          </a:p>
        </p:txBody>
      </p:sp>
      <p:sp>
        <p:nvSpPr>
          <p:cNvPr id="181" name="Google Shape;181;p23"/>
          <p:cNvSpPr/>
          <p:nvPr/>
        </p:nvSpPr>
        <p:spPr>
          <a:xfrm>
            <a:off x="480060" y="3291840"/>
            <a:ext cx="37719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100"/>
              <a:buFont typeface="Calibri"/>
              <a:buNone/>
            </a:pPr>
            <a:r>
              <a:rPr b="1" i="0" lang="en-GB" sz="1500" u="none" cap="none" strike="noStrike">
                <a:solidFill>
                  <a:schemeClr val="dk1"/>
                </a:solidFill>
              </a:rPr>
              <a:t>3</a:t>
            </a:r>
            <a:endParaRPr i="0" sz="1500" u="none" cap="none" strike="noStrike">
              <a:solidFill>
                <a:schemeClr val="dk1"/>
              </a:solidFill>
            </a:endParaRPr>
          </a:p>
        </p:txBody>
      </p:sp>
      <p:sp>
        <p:nvSpPr>
          <p:cNvPr id="182" name="Google Shape;182;p23"/>
          <p:cNvSpPr/>
          <p:nvPr/>
        </p:nvSpPr>
        <p:spPr>
          <a:xfrm>
            <a:off x="1028700" y="3257550"/>
            <a:ext cx="192024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100"/>
              <a:buFont typeface="Calibri"/>
              <a:buNone/>
            </a:pPr>
            <a:r>
              <a:rPr b="1" i="0" lang="en-GB" sz="1500" u="none" cap="none" strike="noStrike">
                <a:solidFill>
                  <a:schemeClr val="dk1"/>
                </a:solidFill>
              </a:rPr>
              <a:t>Stratified Split</a:t>
            </a:r>
            <a:endParaRPr i="0" sz="1500" u="none" cap="none" strike="noStrike">
              <a:solidFill>
                <a:schemeClr val="dk1"/>
              </a:solidFill>
            </a:endParaRPr>
          </a:p>
        </p:txBody>
      </p:sp>
      <p:sp>
        <p:nvSpPr>
          <p:cNvPr id="183" name="Google Shape;183;p23"/>
          <p:cNvSpPr/>
          <p:nvPr/>
        </p:nvSpPr>
        <p:spPr>
          <a:xfrm>
            <a:off x="3017520" y="3257550"/>
            <a:ext cx="562356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100"/>
              <a:buFont typeface="Calibri"/>
              <a:buNone/>
            </a:pPr>
            <a:r>
              <a:rPr i="0" lang="en-GB" sz="1500" u="none" cap="none" strike="noStrike">
                <a:solidFill>
                  <a:schemeClr val="dk1"/>
                </a:solidFill>
              </a:rPr>
              <a:t>80/20 split with stratify — preserves the 79.6%/20.4% ratio in both sets</a:t>
            </a:r>
            <a:endParaRPr i="0" sz="1500" u="none" cap="none" strike="noStrike">
              <a:solidFill>
                <a:schemeClr val="dk1"/>
              </a:solidFill>
            </a:endParaRPr>
          </a:p>
        </p:txBody>
      </p:sp>
      <p:sp>
        <p:nvSpPr>
          <p:cNvPr id="184" name="Google Shape;184;p23"/>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24"/>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07</a:t>
            </a:r>
            <a:endParaRPr b="0" i="0" sz="1000" u="none" cap="none" strike="noStrike">
              <a:solidFill>
                <a:schemeClr val="dk1"/>
              </a:solidFill>
              <a:latin typeface="Calibri"/>
              <a:ea typeface="Calibri"/>
              <a:cs typeface="Calibri"/>
              <a:sym typeface="Calibri"/>
            </a:endParaRPr>
          </a:p>
        </p:txBody>
      </p:sp>
      <p:sp>
        <p:nvSpPr>
          <p:cNvPr id="191" name="Google Shape;191;p24"/>
          <p:cNvSpPr/>
          <p:nvPr/>
        </p:nvSpPr>
        <p:spPr>
          <a:xfrm>
            <a:off x="480060" y="493776"/>
            <a:ext cx="8181594"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2100" u="none" cap="none" strike="noStrike">
                <a:solidFill>
                  <a:srgbClr val="1E2761"/>
                </a:solidFill>
              </a:rPr>
              <a:t>Model Results</a:t>
            </a:r>
            <a:endParaRPr i="0" sz="2100" u="none" cap="none" strike="noStrike">
              <a:solidFill>
                <a:schemeClr val="dk1"/>
              </a:solidFill>
            </a:endParaRPr>
          </a:p>
        </p:txBody>
      </p:sp>
      <p:sp>
        <p:nvSpPr>
          <p:cNvPr id="192" name="Google Shape;192;p24"/>
          <p:cNvSpPr/>
          <p:nvPr/>
        </p:nvSpPr>
        <p:spPr>
          <a:xfrm>
            <a:off x="480060" y="1268730"/>
            <a:ext cx="1954530" cy="1097280"/>
          </a:xfrm>
          <a:prstGeom prst="roundRect">
            <a:avLst>
              <a:gd fmla="val 6250" name="adj"/>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193" name="Google Shape;193;p24"/>
          <p:cNvSpPr/>
          <p:nvPr/>
        </p:nvSpPr>
        <p:spPr>
          <a:xfrm>
            <a:off x="480060" y="1351026"/>
            <a:ext cx="1954530" cy="51435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100"/>
              <a:buFont typeface="Cambria"/>
              <a:buNone/>
            </a:pPr>
            <a:r>
              <a:rPr b="1" i="0" lang="en-GB" sz="1500" u="none" cap="none" strike="noStrike">
                <a:solidFill>
                  <a:srgbClr val="FFFFFF"/>
                </a:solidFill>
              </a:rPr>
              <a:t>85.6%</a:t>
            </a:r>
            <a:endParaRPr i="0" sz="1500" u="none" cap="none" strike="noStrike">
              <a:solidFill>
                <a:schemeClr val="dk1"/>
              </a:solidFill>
            </a:endParaRPr>
          </a:p>
        </p:txBody>
      </p:sp>
      <p:sp>
        <p:nvSpPr>
          <p:cNvPr id="194" name="Google Shape;194;p24"/>
          <p:cNvSpPr/>
          <p:nvPr/>
        </p:nvSpPr>
        <p:spPr>
          <a:xfrm>
            <a:off x="480060" y="1817370"/>
            <a:ext cx="195453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i="0" lang="en-GB" sz="1500" u="none" cap="none" strike="noStrike">
                <a:solidFill>
                  <a:srgbClr val="FFFFFF"/>
                </a:solidFill>
              </a:rPr>
              <a:t>Accuracy</a:t>
            </a:r>
            <a:endParaRPr i="0" sz="1500" u="none" cap="none" strike="noStrike">
              <a:solidFill>
                <a:schemeClr val="dk1"/>
              </a:solidFill>
            </a:endParaRPr>
          </a:p>
        </p:txBody>
      </p:sp>
      <p:sp>
        <p:nvSpPr>
          <p:cNvPr id="195" name="Google Shape;195;p24"/>
          <p:cNvSpPr/>
          <p:nvPr/>
        </p:nvSpPr>
        <p:spPr>
          <a:xfrm>
            <a:off x="2606040" y="1268730"/>
            <a:ext cx="1954530" cy="1097280"/>
          </a:xfrm>
          <a:prstGeom prst="roundRect">
            <a:avLst>
              <a:gd fmla="val 6250" name="adj"/>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196" name="Google Shape;196;p24"/>
          <p:cNvSpPr/>
          <p:nvPr/>
        </p:nvSpPr>
        <p:spPr>
          <a:xfrm>
            <a:off x="2606040" y="1351026"/>
            <a:ext cx="1954530" cy="51435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100"/>
              <a:buFont typeface="Cambria"/>
              <a:buNone/>
            </a:pPr>
            <a:r>
              <a:rPr b="1" i="0" lang="en-GB" sz="1500" u="none" cap="none" strike="noStrike">
                <a:solidFill>
                  <a:srgbClr val="FFFFFF"/>
                </a:solidFill>
              </a:rPr>
              <a:t>78.7%</a:t>
            </a:r>
            <a:endParaRPr i="0" sz="1500" u="none" cap="none" strike="noStrike">
              <a:solidFill>
                <a:schemeClr val="dk1"/>
              </a:solidFill>
            </a:endParaRPr>
          </a:p>
        </p:txBody>
      </p:sp>
      <p:sp>
        <p:nvSpPr>
          <p:cNvPr id="197" name="Google Shape;197;p24"/>
          <p:cNvSpPr/>
          <p:nvPr/>
        </p:nvSpPr>
        <p:spPr>
          <a:xfrm>
            <a:off x="2606040" y="1817370"/>
            <a:ext cx="195453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i="0" lang="en-GB" sz="1500" u="none" cap="none" strike="noStrike">
                <a:solidFill>
                  <a:srgbClr val="FFFFFF"/>
                </a:solidFill>
              </a:rPr>
              <a:t>Precision</a:t>
            </a:r>
            <a:endParaRPr i="0" sz="1500" u="none" cap="none" strike="noStrike">
              <a:solidFill>
                <a:schemeClr val="dk1"/>
              </a:solidFill>
            </a:endParaRPr>
          </a:p>
        </p:txBody>
      </p:sp>
      <p:sp>
        <p:nvSpPr>
          <p:cNvPr id="198" name="Google Shape;198;p24"/>
          <p:cNvSpPr/>
          <p:nvPr/>
        </p:nvSpPr>
        <p:spPr>
          <a:xfrm>
            <a:off x="4732020" y="1268730"/>
            <a:ext cx="1954530" cy="1097280"/>
          </a:xfrm>
          <a:prstGeom prst="roundRect">
            <a:avLst>
              <a:gd fmla="val 6250" name="adj"/>
            </a:avLst>
          </a:prstGeom>
          <a:solidFill>
            <a:srgbClr val="F9616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199" name="Google Shape;199;p24"/>
          <p:cNvSpPr/>
          <p:nvPr/>
        </p:nvSpPr>
        <p:spPr>
          <a:xfrm>
            <a:off x="4732020" y="1351026"/>
            <a:ext cx="1954530" cy="51435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100"/>
              <a:buFont typeface="Cambria"/>
              <a:buNone/>
            </a:pPr>
            <a:r>
              <a:rPr b="1" i="0" lang="en-GB" sz="1500" u="none" cap="none" strike="noStrike">
                <a:solidFill>
                  <a:srgbClr val="FFFFFF"/>
                </a:solidFill>
              </a:rPr>
              <a:t>40.0%</a:t>
            </a:r>
            <a:endParaRPr i="0" sz="1500" u="none" cap="none" strike="noStrike">
              <a:solidFill>
                <a:schemeClr val="dk1"/>
              </a:solidFill>
            </a:endParaRPr>
          </a:p>
        </p:txBody>
      </p:sp>
      <p:sp>
        <p:nvSpPr>
          <p:cNvPr id="200" name="Google Shape;200;p24"/>
          <p:cNvSpPr/>
          <p:nvPr/>
        </p:nvSpPr>
        <p:spPr>
          <a:xfrm>
            <a:off x="4732020" y="1817370"/>
            <a:ext cx="195453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i="0" lang="en-GB" sz="1500" u="none" cap="none" strike="noStrike">
                <a:solidFill>
                  <a:srgbClr val="FFFFFF"/>
                </a:solidFill>
              </a:rPr>
              <a:t>Recall ⚠</a:t>
            </a:r>
            <a:endParaRPr i="0" sz="1500" u="none" cap="none" strike="noStrike">
              <a:solidFill>
                <a:schemeClr val="dk1"/>
              </a:solidFill>
            </a:endParaRPr>
          </a:p>
        </p:txBody>
      </p:sp>
      <p:sp>
        <p:nvSpPr>
          <p:cNvPr id="201" name="Google Shape;201;p24"/>
          <p:cNvSpPr/>
          <p:nvPr/>
        </p:nvSpPr>
        <p:spPr>
          <a:xfrm>
            <a:off x="6858000" y="1268730"/>
            <a:ext cx="1954530" cy="1097280"/>
          </a:xfrm>
          <a:prstGeom prst="roundRect">
            <a:avLst>
              <a:gd fmla="val 6250" name="adj"/>
            </a:avLst>
          </a:prstGeom>
          <a:solidFill>
            <a:srgbClr val="1E276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202" name="Google Shape;202;p24"/>
          <p:cNvSpPr/>
          <p:nvPr/>
        </p:nvSpPr>
        <p:spPr>
          <a:xfrm>
            <a:off x="6858000" y="1351026"/>
            <a:ext cx="1954530" cy="51435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100"/>
              <a:buFont typeface="Cambria"/>
              <a:buNone/>
            </a:pPr>
            <a:r>
              <a:rPr b="1" i="0" lang="en-GB" sz="1500" u="none" cap="none" strike="noStrike">
                <a:solidFill>
                  <a:srgbClr val="FFFFFF"/>
                </a:solidFill>
              </a:rPr>
              <a:t>0.531</a:t>
            </a:r>
            <a:endParaRPr i="0" sz="1500" u="none" cap="none" strike="noStrike">
              <a:solidFill>
                <a:schemeClr val="dk1"/>
              </a:solidFill>
            </a:endParaRPr>
          </a:p>
        </p:txBody>
      </p:sp>
      <p:sp>
        <p:nvSpPr>
          <p:cNvPr id="203" name="Google Shape;203;p24"/>
          <p:cNvSpPr/>
          <p:nvPr/>
        </p:nvSpPr>
        <p:spPr>
          <a:xfrm>
            <a:off x="6858000" y="1817370"/>
            <a:ext cx="195453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i="0" lang="en-GB" sz="1500" u="none" cap="none" strike="noStrike">
                <a:solidFill>
                  <a:srgbClr val="FFFFFF"/>
                </a:solidFill>
              </a:rPr>
              <a:t>F1-Score</a:t>
            </a:r>
            <a:endParaRPr i="0" sz="1500" u="none" cap="none" strike="noStrike">
              <a:solidFill>
                <a:schemeClr val="dk1"/>
              </a:solidFill>
            </a:endParaRPr>
          </a:p>
        </p:txBody>
      </p:sp>
      <p:sp>
        <p:nvSpPr>
          <p:cNvPr id="204" name="Google Shape;204;p24"/>
          <p:cNvSpPr/>
          <p:nvPr/>
        </p:nvSpPr>
        <p:spPr>
          <a:xfrm>
            <a:off x="480060" y="2606040"/>
            <a:ext cx="8160900" cy="16458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222222"/>
              </a:buClr>
              <a:buSzPts val="1100"/>
              <a:buFont typeface="Calibri"/>
              <a:buNone/>
            </a:pPr>
            <a:r>
              <a:rPr i="0" lang="en-GB" sz="1700" u="none" cap="none" strike="noStrike">
                <a:solidFill>
                  <a:srgbClr val="222222"/>
                </a:solidFill>
              </a:rPr>
              <a:t>Precision: when the model predicts churn, it's right 4 out of 5 times. Recall: it only catches 4 out of every 10 customers who actually leave — missing the other 6. Because 80% of customers stayed, the model can score high accuracy just by leaning toward “stayed.” High accuracy is hiding a real weakness in catching the customers we actually care about.</a:t>
            </a:r>
            <a:endParaRPr i="0" sz="1700" u="none" cap="none" strike="noStrike">
              <a:solidFill>
                <a:schemeClr val="dk1"/>
              </a:solidFill>
            </a:endParaRPr>
          </a:p>
        </p:txBody>
      </p:sp>
      <p:sp>
        <p:nvSpPr>
          <p:cNvPr id="205" name="Google Shape;205;p24"/>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25"/>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08</a:t>
            </a:r>
            <a:endParaRPr b="0" i="0" sz="1000" u="none" cap="none" strike="noStrike">
              <a:solidFill>
                <a:schemeClr val="dk1"/>
              </a:solidFill>
              <a:latin typeface="Calibri"/>
              <a:ea typeface="Calibri"/>
              <a:cs typeface="Calibri"/>
              <a:sym typeface="Calibri"/>
            </a:endParaRPr>
          </a:p>
        </p:txBody>
      </p:sp>
      <p:sp>
        <p:nvSpPr>
          <p:cNvPr id="212" name="Google Shape;212;p25"/>
          <p:cNvSpPr/>
          <p:nvPr/>
        </p:nvSpPr>
        <p:spPr>
          <a:xfrm>
            <a:off x="480060" y="493776"/>
            <a:ext cx="8181594"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2100" u="none" cap="none" strike="noStrike">
                <a:solidFill>
                  <a:srgbClr val="1E2761"/>
                </a:solidFill>
              </a:rPr>
              <a:t>Key Findings</a:t>
            </a:r>
            <a:endParaRPr i="0" sz="2100" u="none" cap="none" strike="noStrike">
              <a:solidFill>
                <a:schemeClr val="dk1"/>
              </a:solidFill>
            </a:endParaRPr>
          </a:p>
        </p:txBody>
      </p:sp>
      <p:sp>
        <p:nvSpPr>
          <p:cNvPr id="213" name="Google Shape;213;p25"/>
          <p:cNvSpPr/>
          <p:nvPr/>
        </p:nvSpPr>
        <p:spPr>
          <a:xfrm>
            <a:off x="480060" y="1303020"/>
            <a:ext cx="8161020" cy="925830"/>
          </a:xfrm>
          <a:prstGeom prst="roundRect">
            <a:avLst>
              <a:gd fmla="val 5926" name="adj"/>
            </a:avLst>
          </a:prstGeom>
          <a:solidFill>
            <a:srgbClr val="F2F4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214" name="Google Shape;214;p25"/>
          <p:cNvSpPr/>
          <p:nvPr/>
        </p:nvSpPr>
        <p:spPr>
          <a:xfrm>
            <a:off x="685800" y="1303020"/>
            <a:ext cx="1783080" cy="9258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300"/>
              <a:buFont typeface="Cambria"/>
              <a:buNone/>
            </a:pPr>
            <a:r>
              <a:rPr b="1" i="0" lang="en-GB" sz="1500" u="none" cap="none" strike="noStrike">
                <a:solidFill>
                  <a:srgbClr val="1E2761"/>
                </a:solidFill>
              </a:rPr>
              <a:t>Geography</a:t>
            </a:r>
            <a:endParaRPr i="0" sz="1500" u="none" cap="none" strike="noStrike">
              <a:solidFill>
                <a:schemeClr val="dk1"/>
              </a:solidFill>
            </a:endParaRPr>
          </a:p>
        </p:txBody>
      </p:sp>
      <p:sp>
        <p:nvSpPr>
          <p:cNvPr id="215" name="Google Shape;215;p25"/>
          <p:cNvSpPr/>
          <p:nvPr/>
        </p:nvSpPr>
        <p:spPr>
          <a:xfrm>
            <a:off x="2537460" y="1303020"/>
            <a:ext cx="5897880" cy="9258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100"/>
              <a:buFont typeface="Calibri"/>
              <a:buNone/>
            </a:pPr>
            <a:r>
              <a:rPr i="0" lang="en-GB" sz="1500" u="none" cap="none" strike="noStrike">
                <a:solidFill>
                  <a:srgbClr val="222222"/>
                </a:solidFill>
              </a:rPr>
              <a:t>Germany churns at 32.4% — roughly double France (16.2%) and Spain (16.7%)</a:t>
            </a:r>
            <a:endParaRPr i="0" sz="1500" u="none" cap="none" strike="noStrike">
              <a:solidFill>
                <a:schemeClr val="dk1"/>
              </a:solidFill>
            </a:endParaRPr>
          </a:p>
        </p:txBody>
      </p:sp>
      <p:sp>
        <p:nvSpPr>
          <p:cNvPr id="216" name="Google Shape;216;p25"/>
          <p:cNvSpPr/>
          <p:nvPr/>
        </p:nvSpPr>
        <p:spPr>
          <a:xfrm>
            <a:off x="480060" y="2366010"/>
            <a:ext cx="8161020" cy="925830"/>
          </a:xfrm>
          <a:prstGeom prst="roundRect">
            <a:avLst>
              <a:gd fmla="val 5926" name="adj"/>
            </a:avLst>
          </a:prstGeom>
          <a:solidFill>
            <a:srgbClr val="F2F4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217" name="Google Shape;217;p25"/>
          <p:cNvSpPr/>
          <p:nvPr/>
        </p:nvSpPr>
        <p:spPr>
          <a:xfrm>
            <a:off x="685800" y="2366010"/>
            <a:ext cx="1783080" cy="9258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300"/>
              <a:buFont typeface="Cambria"/>
              <a:buNone/>
            </a:pPr>
            <a:r>
              <a:rPr b="1" i="0" lang="en-GB" sz="1500" u="none" cap="none" strike="noStrike">
                <a:solidFill>
                  <a:srgbClr val="1E2761"/>
                </a:solidFill>
              </a:rPr>
              <a:t>Product Count</a:t>
            </a:r>
            <a:endParaRPr i="0" sz="1500" u="none" cap="none" strike="noStrike">
              <a:solidFill>
                <a:schemeClr val="dk1"/>
              </a:solidFill>
            </a:endParaRPr>
          </a:p>
        </p:txBody>
      </p:sp>
      <p:sp>
        <p:nvSpPr>
          <p:cNvPr id="218" name="Google Shape;218;p25"/>
          <p:cNvSpPr/>
          <p:nvPr/>
        </p:nvSpPr>
        <p:spPr>
          <a:xfrm>
            <a:off x="2537460" y="2366010"/>
            <a:ext cx="5897880" cy="9258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100"/>
              <a:buFont typeface="Calibri"/>
              <a:buNone/>
            </a:pPr>
            <a:r>
              <a:rPr i="0" lang="en-GB" sz="1500" u="none" cap="none" strike="noStrike">
                <a:solidFill>
                  <a:srgbClr val="222222"/>
                </a:solidFill>
              </a:rPr>
              <a:t>Customers with 3–4 products churn far more than those with 1–2 — more products, more frustration</a:t>
            </a:r>
            <a:endParaRPr i="0" sz="1500" u="none" cap="none" strike="noStrike">
              <a:solidFill>
                <a:schemeClr val="dk1"/>
              </a:solidFill>
            </a:endParaRPr>
          </a:p>
        </p:txBody>
      </p:sp>
      <p:sp>
        <p:nvSpPr>
          <p:cNvPr id="219" name="Google Shape;219;p25"/>
          <p:cNvSpPr/>
          <p:nvPr/>
        </p:nvSpPr>
        <p:spPr>
          <a:xfrm>
            <a:off x="480060" y="3429000"/>
            <a:ext cx="8161020" cy="925830"/>
          </a:xfrm>
          <a:prstGeom prst="roundRect">
            <a:avLst>
              <a:gd fmla="val 5926" name="adj"/>
            </a:avLst>
          </a:prstGeom>
          <a:solidFill>
            <a:srgbClr val="F2F4FA"/>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sz="1500"/>
          </a:p>
        </p:txBody>
      </p:sp>
      <p:sp>
        <p:nvSpPr>
          <p:cNvPr id="220" name="Google Shape;220;p25"/>
          <p:cNvSpPr/>
          <p:nvPr/>
        </p:nvSpPr>
        <p:spPr>
          <a:xfrm>
            <a:off x="685800" y="3429000"/>
            <a:ext cx="1783080" cy="9258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1300"/>
              <a:buFont typeface="Cambria"/>
              <a:buNone/>
            </a:pPr>
            <a:r>
              <a:rPr b="1" i="0" lang="en-GB" sz="1500" u="none" cap="none" strike="noStrike">
                <a:solidFill>
                  <a:srgbClr val="1E2761"/>
                </a:solidFill>
              </a:rPr>
              <a:t>Engagement</a:t>
            </a:r>
            <a:endParaRPr i="0" sz="1500" u="none" cap="none" strike="noStrike">
              <a:solidFill>
                <a:schemeClr val="dk1"/>
              </a:solidFill>
            </a:endParaRPr>
          </a:p>
        </p:txBody>
      </p:sp>
      <p:sp>
        <p:nvSpPr>
          <p:cNvPr id="221" name="Google Shape;221;p25"/>
          <p:cNvSpPr/>
          <p:nvPr/>
        </p:nvSpPr>
        <p:spPr>
          <a:xfrm>
            <a:off x="2537460" y="3429000"/>
            <a:ext cx="5897880" cy="9258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22222"/>
              </a:buClr>
              <a:buSzPts val="1100"/>
              <a:buFont typeface="Calibri"/>
              <a:buNone/>
            </a:pPr>
            <a:r>
              <a:rPr i="0" lang="en-GB" sz="1500" u="none" cap="none" strike="noStrike">
                <a:solidFill>
                  <a:srgbClr val="222222"/>
                </a:solidFill>
              </a:rPr>
              <a:t>Inactive members churn at nearly 2x the rate of active members</a:t>
            </a:r>
            <a:endParaRPr i="0" sz="1500" u="none" cap="none" strike="noStrike">
              <a:solidFill>
                <a:schemeClr val="dk1"/>
              </a:solidFill>
            </a:endParaRPr>
          </a:p>
        </p:txBody>
      </p:sp>
      <p:sp>
        <p:nvSpPr>
          <p:cNvPr id="222" name="Google Shape;222;p25"/>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10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26"/>
          <p:cNvSpPr/>
          <p:nvPr/>
        </p:nvSpPr>
        <p:spPr>
          <a:xfrm>
            <a:off x="480060" y="274320"/>
            <a:ext cx="8181594"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96167"/>
              </a:buClr>
              <a:buSzPts val="1000"/>
              <a:buFont typeface="Calibri"/>
              <a:buNone/>
            </a:pPr>
            <a:r>
              <a:rPr b="1" i="0" lang="en-GB" sz="1000" u="none" cap="none" strike="noStrike">
                <a:solidFill>
                  <a:srgbClr val="F96167"/>
                </a:solidFill>
                <a:latin typeface="Calibri"/>
                <a:ea typeface="Calibri"/>
                <a:cs typeface="Calibri"/>
                <a:sym typeface="Calibri"/>
              </a:rPr>
              <a:t>09</a:t>
            </a:r>
            <a:endParaRPr b="0" i="0" sz="1000" u="none" cap="none" strike="noStrike">
              <a:solidFill>
                <a:schemeClr val="dk1"/>
              </a:solidFill>
              <a:latin typeface="Calibri"/>
              <a:ea typeface="Calibri"/>
              <a:cs typeface="Calibri"/>
              <a:sym typeface="Calibri"/>
            </a:endParaRPr>
          </a:p>
        </p:txBody>
      </p:sp>
      <p:sp>
        <p:nvSpPr>
          <p:cNvPr id="229" name="Google Shape;229;p26"/>
          <p:cNvSpPr/>
          <p:nvPr/>
        </p:nvSpPr>
        <p:spPr>
          <a:xfrm>
            <a:off x="480060" y="493776"/>
            <a:ext cx="8181594"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E2761"/>
              </a:buClr>
              <a:buSzPts val="2100"/>
              <a:buFont typeface="Cambria"/>
              <a:buNone/>
            </a:pPr>
            <a:r>
              <a:rPr b="1" i="0" lang="en-GB" sz="2100" u="none" cap="none" strike="noStrike">
                <a:solidFill>
                  <a:srgbClr val="1E2761"/>
                </a:solidFill>
              </a:rPr>
              <a:t>Recommendations</a:t>
            </a:r>
            <a:endParaRPr i="0" sz="2100" u="none" cap="none" strike="noStrike">
              <a:solidFill>
                <a:schemeClr val="dk1"/>
              </a:solidFill>
            </a:endParaRPr>
          </a:p>
        </p:txBody>
      </p:sp>
      <p:sp>
        <p:nvSpPr>
          <p:cNvPr id="230" name="Google Shape;230;p26"/>
          <p:cNvSpPr/>
          <p:nvPr/>
        </p:nvSpPr>
        <p:spPr>
          <a:xfrm>
            <a:off x="480060" y="1234440"/>
            <a:ext cx="8161020" cy="3291840"/>
          </a:xfrm>
          <a:prstGeom prst="rect">
            <a:avLst/>
          </a:prstGeom>
          <a:noFill/>
          <a:ln>
            <a:noFill/>
          </a:ln>
        </p:spPr>
        <p:txBody>
          <a:bodyPr anchorCtr="0" anchor="t" bIns="34275" lIns="68575" spcFirstLastPara="1" rIns="68575" wrap="square" tIns="34275">
            <a:noAutofit/>
          </a:bodyPr>
          <a:lstStyle/>
          <a:p>
            <a:pPr indent="-285750" lvl="0" marL="254000" marR="0" rtl="0" algn="l">
              <a:spcBef>
                <a:spcPts val="0"/>
              </a:spcBef>
              <a:spcAft>
                <a:spcPts val="0"/>
              </a:spcAft>
              <a:buClr>
                <a:srgbClr val="222222"/>
              </a:buClr>
              <a:buSzPts val="1700"/>
              <a:buChar char="●"/>
            </a:pPr>
            <a:r>
              <a:rPr i="0" lang="en-GB" sz="1700" u="none" cap="none" strike="noStrike">
                <a:solidFill>
                  <a:srgbClr val="222222"/>
                </a:solidFill>
              </a:rPr>
              <a:t>Prioritize retention efforts in Germany — review local pricing, competition, and service quality</a:t>
            </a:r>
            <a:endParaRPr i="0" sz="1700" u="none" cap="none" strike="noStrike">
              <a:solidFill>
                <a:schemeClr val="dk1"/>
              </a:solidFill>
            </a:endParaRPr>
          </a:p>
          <a:p>
            <a:pPr indent="-285750" lvl="0" marL="254000" marR="0" rtl="0" algn="l">
              <a:spcBef>
                <a:spcPts val="900"/>
              </a:spcBef>
              <a:spcAft>
                <a:spcPts val="0"/>
              </a:spcAft>
              <a:buClr>
                <a:srgbClr val="222222"/>
              </a:buClr>
              <a:buSzPts val="1700"/>
              <a:buChar char="●"/>
            </a:pPr>
            <a:r>
              <a:rPr i="0" lang="en-GB" sz="1700" u="none" cap="none" strike="noStrike">
                <a:solidFill>
                  <a:srgbClr val="222222"/>
                </a:solidFill>
              </a:rPr>
              <a:t>Audit the 3- and 4-product bundles — the single biggest churn driver found in this study</a:t>
            </a:r>
            <a:endParaRPr i="0" sz="1700" u="none" cap="none" strike="noStrike">
              <a:solidFill>
                <a:schemeClr val="dk1"/>
              </a:solidFill>
            </a:endParaRPr>
          </a:p>
          <a:p>
            <a:pPr indent="-285750" lvl="0" marL="254000" marR="0" rtl="0" algn="l">
              <a:spcBef>
                <a:spcPts val="900"/>
              </a:spcBef>
              <a:spcAft>
                <a:spcPts val="0"/>
              </a:spcAft>
              <a:buClr>
                <a:srgbClr val="222222"/>
              </a:buClr>
              <a:buSzPts val="1700"/>
              <a:buChar char="●"/>
            </a:pPr>
            <a:r>
              <a:rPr i="0" lang="en-GB" sz="1700" u="none" cap="none" strike="noStrike">
                <a:solidFill>
                  <a:srgbClr val="222222"/>
                </a:solidFill>
              </a:rPr>
              <a:t>Build a proactive outreach program that flags customers the moment their activity drops</a:t>
            </a:r>
            <a:endParaRPr i="0" sz="1700" u="none" cap="none" strike="noStrike">
              <a:solidFill>
                <a:schemeClr val="dk1"/>
              </a:solidFill>
            </a:endParaRPr>
          </a:p>
          <a:p>
            <a:pPr indent="-285750" lvl="0" marL="254000" marR="0" rtl="0" algn="l">
              <a:spcBef>
                <a:spcPts val="900"/>
              </a:spcBef>
              <a:spcAft>
                <a:spcPts val="0"/>
              </a:spcAft>
              <a:buClr>
                <a:srgbClr val="222222"/>
              </a:buClr>
              <a:buSzPts val="1700"/>
              <a:buChar char="●"/>
            </a:pPr>
            <a:r>
              <a:rPr i="0" lang="en-GB" sz="1700" u="none" cap="none" strike="noStrike">
                <a:solidFill>
                  <a:srgbClr val="222222"/>
                </a:solidFill>
              </a:rPr>
              <a:t>Future models should prioritize recall over accuracy — catching more real churners matters more on imbalanced data</a:t>
            </a:r>
            <a:endParaRPr i="0" sz="1700" u="none" cap="none" strike="noStrike">
              <a:solidFill>
                <a:schemeClr val="dk1"/>
              </a:solidFill>
            </a:endParaRPr>
          </a:p>
        </p:txBody>
      </p:sp>
      <p:sp>
        <p:nvSpPr>
          <p:cNvPr id="231" name="Google Shape;231;p26"/>
          <p:cNvSpPr/>
          <p:nvPr/>
        </p:nvSpPr>
        <p:spPr>
          <a:xfrm>
            <a:off x="8661654" y="4800600"/>
            <a:ext cx="27432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666666"/>
              </a:buClr>
              <a:buSzPts val="800"/>
              <a:buFont typeface="Calibri"/>
              <a:buNone/>
            </a:pPr>
            <a:r>
              <a:rPr b="0" i="0" lang="en-GB" sz="800" u="none" cap="none" strike="noStrike">
                <a:solidFill>
                  <a:srgbClr val="666666"/>
                </a:solidFill>
                <a:latin typeface="Calibri"/>
                <a:ea typeface="Calibri"/>
                <a:cs typeface="Calibri"/>
                <a:sym typeface="Calibri"/>
              </a:rPr>
              <a:t>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